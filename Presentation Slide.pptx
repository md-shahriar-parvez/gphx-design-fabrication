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7"/>
  </p:notesMasterIdLst>
  <p:sldIdLst>
    <p:sldId id="277" r:id="rId2"/>
    <p:sldId id="256" r:id="rId3"/>
    <p:sldId id="257" r:id="rId4"/>
    <p:sldId id="258" r:id="rId5"/>
    <p:sldId id="259" r:id="rId6"/>
    <p:sldId id="261" r:id="rId7"/>
    <p:sldId id="260" r:id="rId8"/>
    <p:sldId id="262" r:id="rId9"/>
    <p:sldId id="263" r:id="rId10"/>
    <p:sldId id="280" r:id="rId11"/>
    <p:sldId id="264" r:id="rId12"/>
    <p:sldId id="265" r:id="rId13"/>
    <p:sldId id="266" r:id="rId14"/>
    <p:sldId id="278" r:id="rId15"/>
    <p:sldId id="279" r:id="rId16"/>
    <p:sldId id="267" r:id="rId17"/>
    <p:sldId id="268" r:id="rId18"/>
    <p:sldId id="269" r:id="rId19"/>
    <p:sldId id="271" r:id="rId20"/>
    <p:sldId id="272" r:id="rId21"/>
    <p:sldId id="273" r:id="rId22"/>
    <p:sldId id="274" r:id="rId23"/>
    <p:sldId id="275" r:id="rId24"/>
    <p:sldId id="281" r:id="rId25"/>
    <p:sldId id="2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katullah Fahad" initials="BF" lastIdx="1" clrIdx="0">
    <p:extLst>
      <p:ext uri="{19B8F6BF-5375-455C-9EA6-DF929625EA0E}">
        <p15:presenceInfo xmlns:p15="http://schemas.microsoft.com/office/powerpoint/2012/main" userId="644a29e87679af7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69" autoAdjust="0"/>
    <p:restoredTop sz="94660"/>
  </p:normalViewPr>
  <p:slideViewPr>
    <p:cSldViewPr snapToGrid="0">
      <p:cViewPr varScale="1">
        <p:scale>
          <a:sx n="82" d="100"/>
          <a:sy n="82" d="100"/>
        </p:scale>
        <p:origin x="7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076F9-7067-45F9-ADF9-DDE350B13AD0}" type="datetimeFigureOut">
              <a:rPr lang="en-US" smtClean="0"/>
              <a:t>9/23/2023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2DCC60-3D35-491D-A308-147BC1B1527A}" type="slidenum">
              <a:rPr lang="en-US" smtClean="0"/>
              <a:t>‹#›</a:t>
            </a:fld>
            <a:endParaRPr lang="en-US"/>
          </a:p>
        </p:txBody>
      </p:sp>
    </p:spTree>
    <p:extLst>
      <p:ext uri="{BB962C8B-B14F-4D97-AF65-F5344CB8AC3E}">
        <p14:creationId xmlns:p14="http://schemas.microsoft.com/office/powerpoint/2010/main" val="2715514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2DCC60-3D35-491D-A308-147BC1B1527A}" type="slidenum">
              <a:rPr lang="en-US" smtClean="0"/>
              <a:t>1</a:t>
            </a:fld>
            <a:endParaRPr lang="en-US"/>
          </a:p>
        </p:txBody>
      </p:sp>
    </p:spTree>
    <p:extLst>
      <p:ext uri="{BB962C8B-B14F-4D97-AF65-F5344CB8AC3E}">
        <p14:creationId xmlns:p14="http://schemas.microsoft.com/office/powerpoint/2010/main" val="3621851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1715513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3608683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1180029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080608-0DB7-4E0F-9475-208FB177986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904493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080608-0DB7-4E0F-9475-208FB1779863}" type="datetimeFigureOut">
              <a:rPr lang="en-US" smtClean="0"/>
              <a:t>9/23/2023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3065183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080608-0DB7-4E0F-9475-208FB1779863}" type="datetimeFigureOut">
              <a:rPr lang="en-US" smtClean="0"/>
              <a:t>9/23/2023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1729450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080608-0DB7-4E0F-9475-208FB1779863}" type="datetimeFigureOut">
              <a:rPr lang="en-US" smtClean="0"/>
              <a:t>9/23/2023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357788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080608-0DB7-4E0F-9475-208FB177986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218027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080608-0DB7-4E0F-9475-208FB177986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2141146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080608-0DB7-4E0F-9475-208FB177986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165643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500675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1627549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8233678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4199387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2943608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3159270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080608-0DB7-4E0F-9475-208FB177986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7B1DE-560C-4504-8DD9-7D5E1F047155}" type="slidenum">
              <a:rPr lang="en-US" smtClean="0"/>
              <a:t>‹#›</a:t>
            </a:fld>
            <a:endParaRPr lang="en-US"/>
          </a:p>
        </p:txBody>
      </p:sp>
    </p:spTree>
    <p:extLst>
      <p:ext uri="{BB962C8B-B14F-4D97-AF65-F5344CB8AC3E}">
        <p14:creationId xmlns:p14="http://schemas.microsoft.com/office/powerpoint/2010/main" val="2634120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9080608-0DB7-4E0F-9475-208FB1779863}" type="datetimeFigureOut">
              <a:rPr lang="en-US" smtClean="0"/>
              <a:t>9/23/2023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FD7B1DE-560C-4504-8DD9-7D5E1F047155}" type="slidenum">
              <a:rPr lang="en-US" smtClean="0"/>
              <a:t>‹#›</a:t>
            </a:fld>
            <a:endParaRPr lang="en-US"/>
          </a:p>
        </p:txBody>
      </p:sp>
    </p:spTree>
    <p:extLst>
      <p:ext uri="{BB962C8B-B14F-4D97-AF65-F5344CB8AC3E}">
        <p14:creationId xmlns:p14="http://schemas.microsoft.com/office/powerpoint/2010/main" val="311129078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9.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14AD17-91AF-4576-933B-19A9CCD41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7CEA53C3-DE39-4FA1-B451-EC6C2703384F}"/>
              </a:ext>
            </a:extLst>
          </p:cNvPr>
          <p:cNvSpPr txBox="1"/>
          <p:nvPr/>
        </p:nvSpPr>
        <p:spPr>
          <a:xfrm>
            <a:off x="-110836" y="1251466"/>
            <a:ext cx="7329054" cy="1938992"/>
          </a:xfrm>
          <a:prstGeom prst="rect">
            <a:avLst/>
          </a:prstGeom>
          <a:noFill/>
        </p:spPr>
        <p:txBody>
          <a:bodyPr wrap="square" rtlCol="0">
            <a:spAutoFit/>
          </a:bodyPr>
          <a:lstStyle/>
          <a:p>
            <a:pPr algn="ctr"/>
            <a:r>
              <a:rPr lang="en-US" sz="6000" b="1" dirty="0"/>
              <a:t>GASKETED PLATE HEAT EXCHANGER</a:t>
            </a:r>
          </a:p>
        </p:txBody>
      </p:sp>
    </p:spTree>
    <p:extLst>
      <p:ext uri="{BB962C8B-B14F-4D97-AF65-F5344CB8AC3E}">
        <p14:creationId xmlns:p14="http://schemas.microsoft.com/office/powerpoint/2010/main" val="3913653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1A20-A759-4F47-A13D-0C12DF2A6F39}"/>
              </a:ext>
            </a:extLst>
          </p:cNvPr>
          <p:cNvSpPr>
            <a:spLocks noGrp="1"/>
          </p:cNvSpPr>
          <p:nvPr>
            <p:ph type="ctrTitle"/>
          </p:nvPr>
        </p:nvSpPr>
        <p:spPr>
          <a:xfrm>
            <a:off x="2339678" y="217350"/>
            <a:ext cx="8574622" cy="2616199"/>
          </a:xfrm>
        </p:spPr>
        <p:txBody>
          <a:bodyPr>
            <a:normAutofit/>
          </a:bodyPr>
          <a:lstStyle/>
          <a:p>
            <a:pPr algn="l"/>
            <a:r>
              <a:rPr lang="en-US" dirty="0">
                <a:latin typeface="Calibri" panose="020F0502020204030204" pitchFamily="34" charset="0"/>
                <a:ea typeface="Calibri" panose="020F0502020204030204" pitchFamily="34" charset="0"/>
                <a:cs typeface="Calibri" panose="020F0502020204030204" pitchFamily="34" charset="0"/>
              </a:rPr>
              <a:t>ME 310</a:t>
            </a:r>
            <a:br>
              <a:rPr lang="en-US" dirty="0">
                <a:latin typeface="Calibri" panose="020F0502020204030204" pitchFamily="34" charset="0"/>
                <a:ea typeface="Calibri" panose="020F0502020204030204" pitchFamily="34" charset="0"/>
                <a:cs typeface="Calibri" panose="020F0502020204030204" pitchFamily="34" charset="0"/>
              </a:rPr>
            </a:br>
            <a:r>
              <a:rPr lang="en-US" sz="3100" dirty="0">
                <a:latin typeface="Calibri" panose="020F0502020204030204" pitchFamily="34" charset="0"/>
                <a:ea typeface="Calibri" panose="020F0502020204030204" pitchFamily="34" charset="0"/>
                <a:cs typeface="Calibri" panose="020F0502020204030204" pitchFamily="34" charset="0"/>
              </a:rPr>
              <a:t>THERMO-FLUID SYSTEM DESIGN</a:t>
            </a:r>
          </a:p>
        </p:txBody>
      </p:sp>
      <p:sp>
        <p:nvSpPr>
          <p:cNvPr id="3" name="Subtitle 2">
            <a:extLst>
              <a:ext uri="{FF2B5EF4-FFF2-40B4-BE49-F238E27FC236}">
                <a16:creationId xmlns:a16="http://schemas.microsoft.com/office/drawing/2014/main" id="{060EBF95-BC64-4004-A322-52A121AC6531}"/>
              </a:ext>
            </a:extLst>
          </p:cNvPr>
          <p:cNvSpPr>
            <a:spLocks noGrp="1"/>
          </p:cNvSpPr>
          <p:nvPr>
            <p:ph type="subTitle" idx="1"/>
          </p:nvPr>
        </p:nvSpPr>
        <p:spPr/>
        <p:txBody>
          <a:bodyPr>
            <a:no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Presented by,</a:t>
            </a:r>
          </a:p>
          <a:p>
            <a:r>
              <a:rPr lang="en-US" sz="1800" b="1" dirty="0">
                <a:latin typeface="Calibri" panose="020F0502020204030204" pitchFamily="34" charset="0"/>
                <a:ea typeface="Calibri" panose="020F0502020204030204" pitchFamily="34" charset="0"/>
                <a:cs typeface="Calibri" panose="020F0502020204030204" pitchFamily="34" charset="0"/>
              </a:rPr>
              <a:t>GROUP 3</a:t>
            </a:r>
          </a:p>
          <a:p>
            <a:r>
              <a:rPr lang="en-US" sz="1800" b="1" dirty="0" err="1">
                <a:latin typeface="Calibri" panose="020F0502020204030204" pitchFamily="34" charset="0"/>
                <a:ea typeface="Calibri" panose="020F0502020204030204" pitchFamily="34" charset="0"/>
                <a:cs typeface="Calibri" panose="020F0502020204030204" pitchFamily="34" charset="0"/>
              </a:rPr>
              <a:t>Sabit</a:t>
            </a: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b="1" dirty="0" err="1">
                <a:latin typeface="Calibri" panose="020F0502020204030204" pitchFamily="34" charset="0"/>
                <a:ea typeface="Calibri" panose="020F0502020204030204" pitchFamily="34" charset="0"/>
                <a:cs typeface="Calibri" panose="020F0502020204030204" pitchFamily="34" charset="0"/>
              </a:rPr>
              <a:t>Hasnat</a:t>
            </a: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b="1" dirty="0" err="1">
                <a:latin typeface="Calibri" panose="020F0502020204030204" pitchFamily="34" charset="0"/>
                <a:ea typeface="Calibri" panose="020F0502020204030204" pitchFamily="34" charset="0"/>
                <a:cs typeface="Calibri" panose="020F0502020204030204" pitchFamily="34" charset="0"/>
              </a:rPr>
              <a:t>Mahee</a:t>
            </a:r>
            <a:r>
              <a:rPr lang="en-US" sz="1800" b="1" dirty="0">
                <a:latin typeface="Calibri" panose="020F0502020204030204" pitchFamily="34" charset="0"/>
                <a:ea typeface="Calibri" panose="020F0502020204030204" pitchFamily="34" charset="0"/>
                <a:cs typeface="Calibri" panose="020F0502020204030204" pitchFamily="34" charset="0"/>
              </a:rPr>
              <a:t> (1910091)</a:t>
            </a:r>
          </a:p>
          <a:p>
            <a:r>
              <a:rPr lang="en-US" sz="1800" b="1" dirty="0">
                <a:latin typeface="Calibri" panose="020F0502020204030204" pitchFamily="34" charset="0"/>
                <a:ea typeface="Calibri" panose="020F0502020204030204" pitchFamily="34" charset="0"/>
                <a:cs typeface="Calibri" panose="020F0502020204030204" pitchFamily="34" charset="0"/>
              </a:rPr>
              <a:t>Md. Shahriar Parvez (1910114)</a:t>
            </a:r>
          </a:p>
          <a:p>
            <a:r>
              <a:rPr lang="en-US" sz="1800" b="1" dirty="0">
                <a:latin typeface="Calibri" panose="020F0502020204030204" pitchFamily="34" charset="0"/>
                <a:ea typeface="Calibri" panose="020F0502020204030204" pitchFamily="34" charset="0"/>
                <a:cs typeface="Calibri" panose="020F0502020204030204" pitchFamily="34" charset="0"/>
              </a:rPr>
              <a:t>Barkat Ullah Fahad (1910115)</a:t>
            </a:r>
          </a:p>
          <a:p>
            <a:r>
              <a:rPr lang="en-US" sz="1800" b="1" dirty="0">
                <a:latin typeface="Calibri" panose="020F0502020204030204" pitchFamily="34" charset="0"/>
                <a:ea typeface="Calibri" panose="020F0502020204030204" pitchFamily="34" charset="0"/>
                <a:cs typeface="Calibri" panose="020F0502020204030204" pitchFamily="34" charset="0"/>
              </a:rPr>
              <a:t>Arman Mia (1910117)</a:t>
            </a:r>
          </a:p>
        </p:txBody>
      </p:sp>
    </p:spTree>
    <p:extLst>
      <p:ext uri="{BB962C8B-B14F-4D97-AF65-F5344CB8AC3E}">
        <p14:creationId xmlns:p14="http://schemas.microsoft.com/office/powerpoint/2010/main" val="426471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Decision 8">
            <a:extLst>
              <a:ext uri="{FF2B5EF4-FFF2-40B4-BE49-F238E27FC236}">
                <a16:creationId xmlns:a16="http://schemas.microsoft.com/office/drawing/2014/main" id="{24648CF4-12E0-4B46-9E26-8DBBB284DBB9}"/>
              </a:ext>
            </a:extLst>
          </p:cNvPr>
          <p:cNvSpPr/>
          <p:nvPr/>
        </p:nvSpPr>
        <p:spPr>
          <a:xfrm>
            <a:off x="3489277" y="253071"/>
            <a:ext cx="5213445" cy="134790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E414EB-0F54-49B4-B779-26217144AC44}"/>
              </a:ext>
            </a:extLst>
          </p:cNvPr>
          <p:cNvSpPr>
            <a:spLocks noGrp="1"/>
          </p:cNvSpPr>
          <p:nvPr>
            <p:ph type="title"/>
          </p:nvPr>
        </p:nvSpPr>
        <p:spPr>
          <a:xfrm>
            <a:off x="1145076" y="212893"/>
            <a:ext cx="9901848" cy="1431099"/>
          </a:xfrm>
        </p:spPr>
        <p:txBody>
          <a:bodyPr/>
          <a:lstStyle/>
          <a:p>
            <a:r>
              <a:rPr lang="en-US" dirty="0">
                <a:solidFill>
                  <a:schemeClr val="bg1"/>
                </a:solidFill>
              </a:rPr>
              <a:t>contents</a:t>
            </a:r>
          </a:p>
        </p:txBody>
      </p:sp>
      <p:sp>
        <p:nvSpPr>
          <p:cNvPr id="3" name="TextBox 2">
            <a:extLst>
              <a:ext uri="{FF2B5EF4-FFF2-40B4-BE49-F238E27FC236}">
                <a16:creationId xmlns:a16="http://schemas.microsoft.com/office/drawing/2014/main" id="{40C3C50C-9F7E-4207-872C-7C21B532A042}"/>
              </a:ext>
            </a:extLst>
          </p:cNvPr>
          <p:cNvSpPr txBox="1"/>
          <p:nvPr/>
        </p:nvSpPr>
        <p:spPr>
          <a:xfrm>
            <a:off x="2235080" y="2160681"/>
            <a:ext cx="9720198" cy="3662541"/>
          </a:xfrm>
          <a:prstGeom prst="rect">
            <a:avLst/>
          </a:prstGeom>
          <a:noFill/>
        </p:spPr>
        <p:txBody>
          <a:bodyPr wrap="square" rtlCol="0">
            <a:spAutoFit/>
          </a:bodyPr>
          <a:lstStyle/>
          <a:p>
            <a:r>
              <a:rPr lang="en-US" sz="2800" b="1" dirty="0">
                <a:solidFill>
                  <a:schemeClr val="accent1">
                    <a:lumMod val="50000"/>
                  </a:schemeClr>
                </a:solidFill>
              </a:rPr>
              <a:t>Abstract</a:t>
            </a:r>
          </a:p>
          <a:p>
            <a:endParaRPr lang="en-US" sz="2800" b="1" dirty="0">
              <a:solidFill>
                <a:schemeClr val="accent1">
                  <a:lumMod val="50000"/>
                </a:schemeClr>
              </a:solidFill>
            </a:endParaRPr>
          </a:p>
          <a:p>
            <a:r>
              <a:rPr lang="en-US" sz="2800" b="1" dirty="0">
                <a:solidFill>
                  <a:schemeClr val="accent1">
                    <a:lumMod val="50000"/>
                  </a:schemeClr>
                </a:solidFill>
              </a:rPr>
              <a:t>Objective</a:t>
            </a:r>
          </a:p>
          <a:p>
            <a:endParaRPr lang="en-US" sz="2800" b="1" dirty="0">
              <a:solidFill>
                <a:schemeClr val="accent1">
                  <a:lumMod val="50000"/>
                </a:schemeClr>
              </a:solidFill>
            </a:endParaRPr>
          </a:p>
          <a:p>
            <a:r>
              <a:rPr lang="en-US" sz="2800" b="1" dirty="0">
                <a:solidFill>
                  <a:schemeClr val="accent1">
                    <a:lumMod val="50000"/>
                  </a:schemeClr>
                </a:solidFill>
              </a:rPr>
              <a:t>Problem statements</a:t>
            </a:r>
          </a:p>
          <a:p>
            <a:endParaRPr lang="en-US" sz="2800" b="1" dirty="0">
              <a:solidFill>
                <a:schemeClr val="accent1">
                  <a:lumMod val="50000"/>
                </a:schemeClr>
              </a:solidFill>
            </a:endParaRPr>
          </a:p>
          <a:p>
            <a:r>
              <a:rPr lang="en-US" sz="2800" b="1" dirty="0">
                <a:solidFill>
                  <a:schemeClr val="accent1">
                    <a:lumMod val="50000"/>
                  </a:schemeClr>
                </a:solidFill>
              </a:rPr>
              <a:t>Design strategy</a:t>
            </a:r>
          </a:p>
          <a:p>
            <a:endParaRPr lang="en-US" sz="3600" dirty="0"/>
          </a:p>
        </p:txBody>
      </p:sp>
      <p:sp>
        <p:nvSpPr>
          <p:cNvPr id="4" name="TextBox 3">
            <a:extLst>
              <a:ext uri="{FF2B5EF4-FFF2-40B4-BE49-F238E27FC236}">
                <a16:creationId xmlns:a16="http://schemas.microsoft.com/office/drawing/2014/main" id="{C1D3DFA2-2CC7-4BDB-8339-9AF308462447}"/>
              </a:ext>
            </a:extLst>
          </p:cNvPr>
          <p:cNvSpPr txBox="1"/>
          <p:nvPr/>
        </p:nvSpPr>
        <p:spPr>
          <a:xfrm>
            <a:off x="6942161" y="2116899"/>
            <a:ext cx="6475956" cy="2246769"/>
          </a:xfrm>
          <a:prstGeom prst="rect">
            <a:avLst/>
          </a:prstGeom>
          <a:noFill/>
        </p:spPr>
        <p:txBody>
          <a:bodyPr wrap="square" rtlCol="0">
            <a:spAutoFit/>
          </a:bodyPr>
          <a:lstStyle/>
          <a:p>
            <a:r>
              <a:rPr lang="en-US" sz="2800" b="1" dirty="0">
                <a:solidFill>
                  <a:schemeClr val="accent1">
                    <a:lumMod val="50000"/>
                  </a:schemeClr>
                </a:solidFill>
              </a:rPr>
              <a:t>Results and design optimizations</a:t>
            </a:r>
          </a:p>
          <a:p>
            <a:endParaRPr lang="en-US" sz="2800" b="1" dirty="0">
              <a:solidFill>
                <a:schemeClr val="accent1">
                  <a:lumMod val="50000"/>
                </a:schemeClr>
              </a:solidFill>
            </a:endParaRPr>
          </a:p>
          <a:p>
            <a:r>
              <a:rPr lang="en-US" sz="2800" b="1" dirty="0">
                <a:solidFill>
                  <a:schemeClr val="accent1">
                    <a:lumMod val="50000"/>
                  </a:schemeClr>
                </a:solidFill>
              </a:rPr>
              <a:t>Manufacturing process</a:t>
            </a:r>
          </a:p>
          <a:p>
            <a:endParaRPr lang="en-US" sz="2800" b="1" dirty="0">
              <a:solidFill>
                <a:schemeClr val="accent1">
                  <a:lumMod val="50000"/>
                </a:schemeClr>
              </a:solidFill>
            </a:endParaRPr>
          </a:p>
          <a:p>
            <a:r>
              <a:rPr lang="en-US" sz="2800" b="1" dirty="0">
                <a:solidFill>
                  <a:schemeClr val="accent1">
                    <a:lumMod val="50000"/>
                  </a:schemeClr>
                </a:solidFill>
              </a:rPr>
              <a:t>Conclusion</a:t>
            </a:r>
          </a:p>
        </p:txBody>
      </p:sp>
      <p:sp>
        <p:nvSpPr>
          <p:cNvPr id="5" name="Arrow: Down 4">
            <a:extLst>
              <a:ext uri="{FF2B5EF4-FFF2-40B4-BE49-F238E27FC236}">
                <a16:creationId xmlns:a16="http://schemas.microsoft.com/office/drawing/2014/main" id="{63F7F9E1-B918-4045-ADFE-3E55BD87972E}"/>
              </a:ext>
            </a:extLst>
          </p:cNvPr>
          <p:cNvSpPr/>
          <p:nvPr/>
        </p:nvSpPr>
        <p:spPr>
          <a:xfrm>
            <a:off x="1418031" y="1976262"/>
            <a:ext cx="999179" cy="36625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1</a:t>
            </a:r>
          </a:p>
          <a:p>
            <a:pPr algn="ctr"/>
            <a:endParaRPr lang="en-US" sz="2800" dirty="0"/>
          </a:p>
          <a:p>
            <a:pPr algn="ctr"/>
            <a:r>
              <a:rPr lang="en-US" sz="2800" dirty="0"/>
              <a:t>2</a:t>
            </a:r>
          </a:p>
          <a:p>
            <a:pPr algn="ctr"/>
            <a:endParaRPr lang="en-US" sz="2800" dirty="0"/>
          </a:p>
          <a:p>
            <a:pPr algn="ctr"/>
            <a:r>
              <a:rPr lang="en-US" sz="2800" dirty="0"/>
              <a:t>3</a:t>
            </a:r>
          </a:p>
          <a:p>
            <a:pPr algn="ctr"/>
            <a:endParaRPr lang="en-US" sz="2800" dirty="0"/>
          </a:p>
          <a:p>
            <a:pPr algn="ctr"/>
            <a:r>
              <a:rPr lang="en-US" sz="2800" dirty="0"/>
              <a:t>4</a:t>
            </a:r>
          </a:p>
        </p:txBody>
      </p:sp>
      <p:sp>
        <p:nvSpPr>
          <p:cNvPr id="8" name="Arrow: Down 7">
            <a:extLst>
              <a:ext uri="{FF2B5EF4-FFF2-40B4-BE49-F238E27FC236}">
                <a16:creationId xmlns:a16="http://schemas.microsoft.com/office/drawing/2014/main" id="{F218F40C-79F1-4D45-B2A9-50C809E90D84}"/>
              </a:ext>
            </a:extLst>
          </p:cNvPr>
          <p:cNvSpPr/>
          <p:nvPr/>
        </p:nvSpPr>
        <p:spPr>
          <a:xfrm>
            <a:off x="6096000" y="1643992"/>
            <a:ext cx="999179" cy="32876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5</a:t>
            </a:r>
          </a:p>
          <a:p>
            <a:pPr algn="ctr"/>
            <a:endParaRPr lang="en-US" sz="2800" dirty="0"/>
          </a:p>
          <a:p>
            <a:pPr algn="ctr"/>
            <a:r>
              <a:rPr lang="en-US" sz="2800" dirty="0"/>
              <a:t>6</a:t>
            </a:r>
          </a:p>
          <a:p>
            <a:pPr algn="ctr"/>
            <a:endParaRPr lang="en-US" sz="2800" dirty="0"/>
          </a:p>
          <a:p>
            <a:pPr algn="ctr"/>
            <a:r>
              <a:rPr lang="en-US" sz="2800" dirty="0"/>
              <a:t>7</a:t>
            </a:r>
          </a:p>
        </p:txBody>
      </p:sp>
    </p:spTree>
    <p:extLst>
      <p:ext uri="{BB962C8B-B14F-4D97-AF65-F5344CB8AC3E}">
        <p14:creationId xmlns:p14="http://schemas.microsoft.com/office/powerpoint/2010/main" val="3763780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347C-6B53-4AA4-8EC2-474743644265}"/>
              </a:ext>
            </a:extLst>
          </p:cNvPr>
          <p:cNvSpPr>
            <a:spLocks noGrp="1"/>
          </p:cNvSpPr>
          <p:nvPr>
            <p:ph type="title"/>
          </p:nvPr>
        </p:nvSpPr>
        <p:spPr>
          <a:xfrm>
            <a:off x="1798209" y="549323"/>
            <a:ext cx="10018713" cy="1752599"/>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p:spPr>
        <p:style>
          <a:lnRef idx="0">
            <a:scrgbClr r="0" g="0" b="0"/>
          </a:lnRef>
          <a:fillRef idx="0">
            <a:scrgbClr r="0" g="0" b="0"/>
          </a:fillRef>
          <a:effectRef idx="0">
            <a:scrgbClr r="0" g="0" b="0"/>
          </a:effectRef>
          <a:fontRef idx="minor">
            <a:schemeClr val="lt1"/>
          </a:fontRef>
        </p:style>
        <p:txBody>
          <a:bodyPr/>
          <a:lstStyle/>
          <a:p>
            <a:r>
              <a:rPr lang="en-US" dirty="0"/>
              <a:t>Abstract</a:t>
            </a:r>
          </a:p>
        </p:txBody>
      </p:sp>
      <p:sp>
        <p:nvSpPr>
          <p:cNvPr id="3" name="TextBox 2">
            <a:extLst>
              <a:ext uri="{FF2B5EF4-FFF2-40B4-BE49-F238E27FC236}">
                <a16:creationId xmlns:a16="http://schemas.microsoft.com/office/drawing/2014/main" id="{15D19355-F8B0-4678-8D02-2136B42D834F}"/>
              </a:ext>
            </a:extLst>
          </p:cNvPr>
          <p:cNvSpPr txBox="1"/>
          <p:nvPr/>
        </p:nvSpPr>
        <p:spPr>
          <a:xfrm>
            <a:off x="2032954" y="2715611"/>
            <a:ext cx="9599486" cy="273921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sz="2400" dirty="0"/>
              <a:t>Heat exchangers play a pivotal role in various industries by facilitating efficient heat transfer between two fluid streams while maintaining their thermal isolation. The primary objective of heat exchangers is to optimize the utilization of thermal energy, minimizing energy wastage and reducing operational costs. They find extensive use in sectors such as HVAC systems, power generation, chemical processing, and refrigeration. </a:t>
            </a:r>
          </a:p>
          <a:p>
            <a:endParaRPr lang="en-US" sz="2800" dirty="0"/>
          </a:p>
        </p:txBody>
      </p:sp>
    </p:spTree>
    <p:extLst>
      <p:ext uri="{BB962C8B-B14F-4D97-AF65-F5344CB8AC3E}">
        <p14:creationId xmlns:p14="http://schemas.microsoft.com/office/powerpoint/2010/main" val="2485474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88F59D-24A1-47CE-87F5-82E443F0008E}"/>
              </a:ext>
            </a:extLst>
          </p:cNvPr>
          <p:cNvSpPr txBox="1"/>
          <p:nvPr/>
        </p:nvSpPr>
        <p:spPr>
          <a:xfrm>
            <a:off x="1665962" y="2768252"/>
            <a:ext cx="10233764" cy="267765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GB" sz="2400" dirty="0"/>
              <a:t>The gasketed plate heat exchanger (GPHE) is a versatile and highly efficient heat transfer device widely used in industrial applications. GPHEs are compact and modular heat exchangers consisting of corrugated plates with gaskets in between. These gaskets ensure a leak-free operation while allowing for easy maintenance and plate replacement</a:t>
            </a:r>
          </a:p>
          <a:p>
            <a:r>
              <a:rPr lang="en-GB" sz="2400" dirty="0"/>
              <a:t>gasketed plate heat exchangers offer an efficient and space-saving solution for heat transfer needs across diverse industries</a:t>
            </a:r>
            <a:endParaRPr lang="en-US" sz="2400" dirty="0"/>
          </a:p>
        </p:txBody>
      </p:sp>
      <p:sp>
        <p:nvSpPr>
          <p:cNvPr id="4" name="TextBox 3">
            <a:extLst>
              <a:ext uri="{FF2B5EF4-FFF2-40B4-BE49-F238E27FC236}">
                <a16:creationId xmlns:a16="http://schemas.microsoft.com/office/drawing/2014/main" id="{351A0429-1DDA-4B84-A3CF-CD1A3A038BE8}"/>
              </a:ext>
            </a:extLst>
          </p:cNvPr>
          <p:cNvSpPr txBox="1"/>
          <p:nvPr/>
        </p:nvSpPr>
        <p:spPr>
          <a:xfrm>
            <a:off x="1801504" y="1405719"/>
            <a:ext cx="9376012" cy="70788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sz="4000" dirty="0"/>
              <a:t>Gasketed Plate Heat Exchanger</a:t>
            </a:r>
          </a:p>
        </p:txBody>
      </p:sp>
    </p:spTree>
    <p:extLst>
      <p:ext uri="{BB962C8B-B14F-4D97-AF65-F5344CB8AC3E}">
        <p14:creationId xmlns:p14="http://schemas.microsoft.com/office/powerpoint/2010/main" val="3518975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3272B-337D-41A0-9F65-05CAE2A51311}"/>
              </a:ext>
            </a:extLst>
          </p:cNvPr>
          <p:cNvSpPr>
            <a:spLocks noGrp="1"/>
          </p:cNvSpPr>
          <p:nvPr>
            <p:ph type="title"/>
          </p:nvPr>
        </p:nvSpPr>
        <p:spPr>
          <a:xfrm>
            <a:off x="1710534" y="1162404"/>
            <a:ext cx="10018713" cy="1752599"/>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lstStyle/>
          <a:p>
            <a:pPr algn="l"/>
            <a:r>
              <a:rPr lang="en-US" dirty="0"/>
              <a:t>Our objectives….</a:t>
            </a:r>
          </a:p>
        </p:txBody>
      </p:sp>
      <p:sp>
        <p:nvSpPr>
          <p:cNvPr id="3" name="TextBox 2">
            <a:extLst>
              <a:ext uri="{FF2B5EF4-FFF2-40B4-BE49-F238E27FC236}">
                <a16:creationId xmlns:a16="http://schemas.microsoft.com/office/drawing/2014/main" id="{6696FE3A-405F-486A-8896-C0DF0D9259C2}"/>
              </a:ext>
            </a:extLst>
          </p:cNvPr>
          <p:cNvSpPr txBox="1"/>
          <p:nvPr/>
        </p:nvSpPr>
        <p:spPr>
          <a:xfrm>
            <a:off x="2038843" y="3376911"/>
            <a:ext cx="10018713" cy="707886"/>
          </a:xfrm>
          <a:prstGeom prst="rect">
            <a:avLst/>
          </a:prstGeom>
          <a:noFill/>
        </p:spPr>
        <p:txBody>
          <a:bodyPr wrap="square" rtlCol="0">
            <a:spAutoFit/>
          </a:bodyPr>
          <a:lstStyle/>
          <a:p>
            <a:r>
              <a:rPr lang="en-GB" sz="2000" dirty="0">
                <a:solidFill>
                  <a:schemeClr val="accent1">
                    <a:lumMod val="75000"/>
                  </a:schemeClr>
                </a:solidFill>
              </a:rPr>
              <a:t>Improve the efficiency of heat transfer within the plate heat exchanger to maximize the exchange of thermal energy</a:t>
            </a:r>
            <a:endParaRPr lang="en-US" sz="2000" dirty="0">
              <a:solidFill>
                <a:schemeClr val="accent1">
                  <a:lumMod val="75000"/>
                </a:schemeClr>
              </a:solidFill>
            </a:endParaRPr>
          </a:p>
        </p:txBody>
      </p:sp>
      <p:sp>
        <p:nvSpPr>
          <p:cNvPr id="4" name="TextBox 3">
            <a:extLst>
              <a:ext uri="{FF2B5EF4-FFF2-40B4-BE49-F238E27FC236}">
                <a16:creationId xmlns:a16="http://schemas.microsoft.com/office/drawing/2014/main" id="{7F25A685-8CC8-4E15-A949-71F64630E684}"/>
              </a:ext>
            </a:extLst>
          </p:cNvPr>
          <p:cNvSpPr txBox="1"/>
          <p:nvPr/>
        </p:nvSpPr>
        <p:spPr>
          <a:xfrm>
            <a:off x="2347600" y="4282639"/>
            <a:ext cx="10018713" cy="400110"/>
          </a:xfrm>
          <a:prstGeom prst="rect">
            <a:avLst/>
          </a:prstGeom>
          <a:noFill/>
        </p:spPr>
        <p:txBody>
          <a:bodyPr wrap="square" rtlCol="0">
            <a:spAutoFit/>
          </a:bodyPr>
          <a:lstStyle/>
          <a:p>
            <a:r>
              <a:rPr lang="en-GB" sz="2000" dirty="0">
                <a:solidFill>
                  <a:schemeClr val="accent1">
                    <a:lumMod val="75000"/>
                  </a:schemeClr>
                </a:solidFill>
              </a:rPr>
              <a:t>Reduce energy consumption by optimizing the design and operation</a:t>
            </a:r>
            <a:endParaRPr lang="en-US" sz="2000" dirty="0">
              <a:solidFill>
                <a:schemeClr val="accent1">
                  <a:lumMod val="75000"/>
                </a:schemeClr>
              </a:solidFill>
            </a:endParaRPr>
          </a:p>
        </p:txBody>
      </p:sp>
      <p:sp>
        <p:nvSpPr>
          <p:cNvPr id="5" name="TextBox 4">
            <a:extLst>
              <a:ext uri="{FF2B5EF4-FFF2-40B4-BE49-F238E27FC236}">
                <a16:creationId xmlns:a16="http://schemas.microsoft.com/office/drawing/2014/main" id="{F802C5C8-275A-454B-A4FD-390F17C3A3B3}"/>
              </a:ext>
            </a:extLst>
          </p:cNvPr>
          <p:cNvSpPr txBox="1"/>
          <p:nvPr/>
        </p:nvSpPr>
        <p:spPr>
          <a:xfrm>
            <a:off x="2677513" y="4844096"/>
            <a:ext cx="9893451" cy="400110"/>
          </a:xfrm>
          <a:prstGeom prst="rect">
            <a:avLst/>
          </a:prstGeom>
          <a:noFill/>
        </p:spPr>
        <p:txBody>
          <a:bodyPr wrap="square" rtlCol="0">
            <a:spAutoFit/>
          </a:bodyPr>
          <a:lstStyle/>
          <a:p>
            <a:r>
              <a:rPr lang="en-GB" sz="2000" dirty="0">
                <a:solidFill>
                  <a:schemeClr val="accent1">
                    <a:lumMod val="75000"/>
                  </a:schemeClr>
                </a:solidFill>
              </a:rPr>
              <a:t>cost savings and environmental benefits</a:t>
            </a:r>
            <a:endParaRPr lang="en-US" sz="2000" dirty="0">
              <a:solidFill>
                <a:schemeClr val="accent1">
                  <a:lumMod val="75000"/>
                </a:schemeClr>
              </a:solidFill>
            </a:endParaRPr>
          </a:p>
        </p:txBody>
      </p:sp>
      <p:sp>
        <p:nvSpPr>
          <p:cNvPr id="6" name="TextBox 5">
            <a:extLst>
              <a:ext uri="{FF2B5EF4-FFF2-40B4-BE49-F238E27FC236}">
                <a16:creationId xmlns:a16="http://schemas.microsoft.com/office/drawing/2014/main" id="{36CC64D4-6BF8-48CB-9CC6-7BF96C596513}"/>
              </a:ext>
            </a:extLst>
          </p:cNvPr>
          <p:cNvSpPr txBox="1"/>
          <p:nvPr/>
        </p:nvSpPr>
        <p:spPr>
          <a:xfrm>
            <a:off x="2977830" y="5566901"/>
            <a:ext cx="9795353" cy="369332"/>
          </a:xfrm>
          <a:prstGeom prst="rect">
            <a:avLst/>
          </a:prstGeom>
          <a:noFill/>
        </p:spPr>
        <p:txBody>
          <a:bodyPr wrap="square" rtlCol="0">
            <a:spAutoFit/>
          </a:bodyPr>
          <a:lstStyle/>
          <a:p>
            <a:r>
              <a:rPr lang="en-GB" dirty="0">
                <a:solidFill>
                  <a:schemeClr val="accent1">
                    <a:lumMod val="75000"/>
                  </a:schemeClr>
                </a:solidFill>
              </a:rPr>
              <a:t>to minimize downtime and maintenance requirements</a:t>
            </a:r>
            <a:endParaRPr lang="en-US" dirty="0">
              <a:solidFill>
                <a:schemeClr val="accent1">
                  <a:lumMod val="75000"/>
                </a:schemeClr>
              </a:solidFill>
            </a:endParaRPr>
          </a:p>
        </p:txBody>
      </p:sp>
      <p:sp>
        <p:nvSpPr>
          <p:cNvPr id="12" name="Arrow: Striped Right 11">
            <a:extLst>
              <a:ext uri="{FF2B5EF4-FFF2-40B4-BE49-F238E27FC236}">
                <a16:creationId xmlns:a16="http://schemas.microsoft.com/office/drawing/2014/main" id="{1DF91679-9F5B-4143-8C3C-4DAE7EC8AB84}"/>
              </a:ext>
            </a:extLst>
          </p:cNvPr>
          <p:cNvSpPr/>
          <p:nvPr/>
        </p:nvSpPr>
        <p:spPr>
          <a:xfrm>
            <a:off x="2038843" y="4813317"/>
            <a:ext cx="509724" cy="5539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Striped Right 13">
            <a:extLst>
              <a:ext uri="{FF2B5EF4-FFF2-40B4-BE49-F238E27FC236}">
                <a16:creationId xmlns:a16="http://schemas.microsoft.com/office/drawing/2014/main" id="{5F617E3D-EA2D-46C6-BC01-09917A73FB61}"/>
              </a:ext>
            </a:extLst>
          </p:cNvPr>
          <p:cNvSpPr/>
          <p:nvPr/>
        </p:nvSpPr>
        <p:spPr>
          <a:xfrm>
            <a:off x="1724182" y="4205694"/>
            <a:ext cx="509724" cy="5539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Striped Right 14">
            <a:extLst>
              <a:ext uri="{FF2B5EF4-FFF2-40B4-BE49-F238E27FC236}">
                <a16:creationId xmlns:a16="http://schemas.microsoft.com/office/drawing/2014/main" id="{9AC0C012-A172-473A-8C72-F229A3E3CB81}"/>
              </a:ext>
            </a:extLst>
          </p:cNvPr>
          <p:cNvSpPr/>
          <p:nvPr/>
        </p:nvSpPr>
        <p:spPr>
          <a:xfrm>
            <a:off x="1455672" y="3443130"/>
            <a:ext cx="509724" cy="5539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Striped Right 15">
            <a:extLst>
              <a:ext uri="{FF2B5EF4-FFF2-40B4-BE49-F238E27FC236}">
                <a16:creationId xmlns:a16="http://schemas.microsoft.com/office/drawing/2014/main" id="{799F6DDA-8A8E-49FD-99B6-8E3E62856738}"/>
              </a:ext>
            </a:extLst>
          </p:cNvPr>
          <p:cNvSpPr/>
          <p:nvPr/>
        </p:nvSpPr>
        <p:spPr>
          <a:xfrm>
            <a:off x="2394118" y="5511532"/>
            <a:ext cx="509724" cy="5539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2617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4FF7-B478-4A2D-9947-CA647FD869E2}"/>
              </a:ext>
            </a:extLst>
          </p:cNvPr>
          <p:cNvSpPr>
            <a:spLocks noGrp="1"/>
          </p:cNvSpPr>
          <p:nvPr>
            <p:ph type="title"/>
          </p:nvPr>
        </p:nvSpPr>
        <p:spPr>
          <a:xfrm>
            <a:off x="1907391" y="663621"/>
            <a:ext cx="10018713" cy="1796955"/>
          </a:xfrm>
        </p:spPr>
        <p:txBody>
          <a:bodyPr>
            <a:normAutofit/>
          </a:bodyPr>
          <a:lstStyle/>
          <a:p>
            <a:pPr algn="l"/>
            <a:r>
              <a:rPr lang="en-US" sz="3600" dirty="0"/>
              <a:t>Problem statement:</a:t>
            </a:r>
          </a:p>
        </p:txBody>
      </p:sp>
      <p:sp>
        <p:nvSpPr>
          <p:cNvPr id="5" name="TextBox 4">
            <a:extLst>
              <a:ext uri="{FF2B5EF4-FFF2-40B4-BE49-F238E27FC236}">
                <a16:creationId xmlns:a16="http://schemas.microsoft.com/office/drawing/2014/main" id="{CF254171-410B-4B7C-B2AE-DAF0217ADC71}"/>
              </a:ext>
            </a:extLst>
          </p:cNvPr>
          <p:cNvSpPr txBox="1"/>
          <p:nvPr/>
        </p:nvSpPr>
        <p:spPr>
          <a:xfrm>
            <a:off x="1575186" y="2966525"/>
            <a:ext cx="10546604" cy="230832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sz="2400" dirty="0">
                <a:solidFill>
                  <a:schemeClr val="accent1">
                    <a:lumMod val="50000"/>
                  </a:schemeClr>
                </a:solidFill>
                <a:latin typeface="Times New Roman" panose="02020603050405020304" pitchFamily="18" charset="0"/>
                <a:cs typeface="Times New Roman" panose="02020603050405020304" pitchFamily="18" charset="0"/>
              </a:rPr>
              <a:t>In a food processing plant 0.6 kg/s water at 50˚ C is to be cooled using </a:t>
            </a:r>
            <a:r>
              <a:rPr lang="en-US" sz="2400" dirty="0" smtClean="0">
                <a:solidFill>
                  <a:schemeClr val="accent1">
                    <a:lumMod val="50000"/>
                  </a:schemeClr>
                </a:solidFill>
                <a:latin typeface="Times New Roman" panose="02020603050405020304" pitchFamily="18" charset="0"/>
                <a:cs typeface="Times New Roman" panose="02020603050405020304" pitchFamily="18" charset="0"/>
              </a:rPr>
              <a:t>0.6 kg/s </a:t>
            </a:r>
            <a:r>
              <a:rPr lang="en-US" sz="2400" dirty="0">
                <a:solidFill>
                  <a:schemeClr val="accent1">
                    <a:lumMod val="50000"/>
                  </a:schemeClr>
                </a:solidFill>
                <a:latin typeface="Times New Roman" panose="02020603050405020304" pitchFamily="18" charset="0"/>
                <a:cs typeface="Times New Roman" panose="02020603050405020304" pitchFamily="18" charset="0"/>
              </a:rPr>
              <a:t>water available at 20˚ C. Targeted fluid should be reduced to 45˚ C at least. Dimension of heat exchanger plate should be: L:14 in, W:8 in</a:t>
            </a:r>
          </a:p>
          <a:p>
            <a:r>
              <a:rPr lang="en-US" sz="2400" dirty="0">
                <a:solidFill>
                  <a:schemeClr val="accent1">
                    <a:lumMod val="50000"/>
                  </a:schemeClr>
                </a:solidFill>
                <a:latin typeface="Times New Roman" panose="02020603050405020304" pitchFamily="18" charset="0"/>
                <a:cs typeface="Times New Roman" panose="02020603050405020304" pitchFamily="18" charset="0"/>
              </a:rPr>
              <a:t>Thickness of plate</a:t>
            </a:r>
            <a:r>
              <a:rPr lang="en-US" sz="2400" dirty="0" smtClean="0">
                <a:solidFill>
                  <a:schemeClr val="accent1">
                    <a:lumMod val="50000"/>
                  </a:schemeClr>
                </a:solidFill>
                <a:latin typeface="Times New Roman" panose="02020603050405020304" pitchFamily="18" charset="0"/>
                <a:cs typeface="Times New Roman" panose="02020603050405020304" pitchFamily="18" charset="0"/>
              </a:rPr>
              <a:t>: 0.8mm</a:t>
            </a:r>
            <a:r>
              <a:rPr lang="en-US" sz="2400" dirty="0">
                <a:solidFill>
                  <a:schemeClr val="accent1">
                    <a:lumMod val="50000"/>
                  </a:schemeClr>
                </a:solidFill>
                <a:latin typeface="Times New Roman" panose="02020603050405020304" pitchFamily="18" charset="0"/>
                <a:cs typeface="Times New Roman" panose="02020603050405020304" pitchFamily="18" charset="0"/>
              </a:rPr>
              <a:t>. Our target is to determined final temperature of hot water and number of plate needed for the heat exchanger. We assume fouling factor: 0.00009 m</a:t>
            </a:r>
            <a:r>
              <a:rPr lang="en-US" sz="2400" baseline="30000" dirty="0">
                <a:solidFill>
                  <a:schemeClr val="accent1">
                    <a:lumMod val="50000"/>
                  </a:schemeClr>
                </a:solidFill>
                <a:latin typeface="Times New Roman" panose="02020603050405020304" pitchFamily="18" charset="0"/>
                <a:cs typeface="Times New Roman" panose="02020603050405020304" pitchFamily="18" charset="0"/>
              </a:rPr>
              <a:t>2</a:t>
            </a:r>
            <a:r>
              <a:rPr lang="en-US" sz="2400" dirty="0">
                <a:solidFill>
                  <a:schemeClr val="accent1">
                    <a:lumMod val="50000"/>
                  </a:schemeClr>
                </a:solidFill>
                <a:latin typeface="Times New Roman" panose="02020603050405020304" pitchFamily="18" charset="0"/>
                <a:cs typeface="Times New Roman" panose="02020603050405020304" pitchFamily="18" charset="0"/>
              </a:rPr>
              <a:t>K/W</a:t>
            </a:r>
          </a:p>
        </p:txBody>
      </p:sp>
      <p:sp>
        <p:nvSpPr>
          <p:cNvPr id="6" name="Arrow: Striped Right 5">
            <a:extLst>
              <a:ext uri="{FF2B5EF4-FFF2-40B4-BE49-F238E27FC236}">
                <a16:creationId xmlns:a16="http://schemas.microsoft.com/office/drawing/2014/main" id="{8A459889-6421-4198-9E4F-C141E6EC1DE6}"/>
              </a:ext>
            </a:extLst>
          </p:cNvPr>
          <p:cNvSpPr/>
          <p:nvPr/>
        </p:nvSpPr>
        <p:spPr>
          <a:xfrm>
            <a:off x="1484312" y="943401"/>
            <a:ext cx="5203092" cy="1237396"/>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740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BEBDCE-EA1B-4A5C-99D7-128E2E425942}"/>
              </a:ext>
            </a:extLst>
          </p:cNvPr>
          <p:cNvSpPr txBox="1"/>
          <p:nvPr/>
        </p:nvSpPr>
        <p:spPr>
          <a:xfrm>
            <a:off x="1801504" y="2310451"/>
            <a:ext cx="9732723" cy="2554545"/>
          </a:xfrm>
          <a:prstGeom prst="rect">
            <a:avLst/>
          </a:prstGeom>
          <a:noFill/>
        </p:spPr>
        <p:txBody>
          <a:bodyPr wrap="square" rtlCol="0">
            <a:spAutoFit/>
          </a:bodyPr>
          <a:lstStyle/>
          <a:p>
            <a:pPr marL="285750" indent="-285750">
              <a:buFont typeface="Wingdings" panose="05000000000000000000" pitchFamily="2" charset="2"/>
              <a:buChar char="Ø"/>
            </a:pPr>
            <a:r>
              <a:rPr lang="en-US" sz="3200" dirty="0"/>
              <a:t>CAD modelling</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Design and performance calculation</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Parametric studies</a:t>
            </a:r>
          </a:p>
        </p:txBody>
      </p:sp>
      <p:sp>
        <p:nvSpPr>
          <p:cNvPr id="4" name="Flowchart: Data 3">
            <a:extLst>
              <a:ext uri="{FF2B5EF4-FFF2-40B4-BE49-F238E27FC236}">
                <a16:creationId xmlns:a16="http://schemas.microsoft.com/office/drawing/2014/main" id="{46E48C6F-6F8E-4411-8A50-4400C09517A8}"/>
              </a:ext>
            </a:extLst>
          </p:cNvPr>
          <p:cNvSpPr/>
          <p:nvPr/>
        </p:nvSpPr>
        <p:spPr>
          <a:xfrm>
            <a:off x="1801504" y="364508"/>
            <a:ext cx="8284191" cy="1197591"/>
          </a:xfrm>
          <a:prstGeom prst="flowChartInputOutput">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ata 4">
            <a:extLst>
              <a:ext uri="{FF2B5EF4-FFF2-40B4-BE49-F238E27FC236}">
                <a16:creationId xmlns:a16="http://schemas.microsoft.com/office/drawing/2014/main" id="{1C7B1CFE-28C8-4AE2-BDB7-D7527E07BE0B}"/>
              </a:ext>
            </a:extLst>
          </p:cNvPr>
          <p:cNvSpPr/>
          <p:nvPr/>
        </p:nvSpPr>
        <p:spPr>
          <a:xfrm>
            <a:off x="1953904" y="557852"/>
            <a:ext cx="8284191" cy="1197591"/>
          </a:xfrm>
          <a:prstGeom prst="flowChartInputOutput">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36E0A-1532-4350-BC15-D98336064E4F}"/>
              </a:ext>
            </a:extLst>
          </p:cNvPr>
          <p:cNvSpPr>
            <a:spLocks noGrp="1"/>
          </p:cNvSpPr>
          <p:nvPr>
            <p:ph type="title"/>
          </p:nvPr>
        </p:nvSpPr>
        <p:spPr>
          <a:xfrm>
            <a:off x="934242" y="280347"/>
            <a:ext cx="10018713" cy="1752599"/>
          </a:xfrm>
        </p:spPr>
        <p:txBody>
          <a:bodyPr/>
          <a:lstStyle/>
          <a:p>
            <a:r>
              <a:rPr lang="en-US" dirty="0"/>
              <a:t>Design strategy</a:t>
            </a:r>
          </a:p>
        </p:txBody>
      </p:sp>
      <p:pic>
        <p:nvPicPr>
          <p:cNvPr id="7" name="Picture 6">
            <a:extLst>
              <a:ext uri="{FF2B5EF4-FFF2-40B4-BE49-F238E27FC236}">
                <a16:creationId xmlns:a16="http://schemas.microsoft.com/office/drawing/2014/main" id="{403127C0-6658-4C0B-A2E9-E3070183F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2825" y="2331494"/>
            <a:ext cx="3530539" cy="34648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54414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42A4BCA1-EB8F-4074-B934-8BAE7B9E6E91}"/>
              </a:ext>
            </a:extLst>
          </p:cNvPr>
          <p:cNvSpPr/>
          <p:nvPr/>
        </p:nvSpPr>
        <p:spPr>
          <a:xfrm>
            <a:off x="3848669" y="286603"/>
            <a:ext cx="4981432" cy="968991"/>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E68780-33ED-46EB-B087-A2D0BE8C5433}"/>
              </a:ext>
            </a:extLst>
          </p:cNvPr>
          <p:cNvSpPr>
            <a:spLocks noGrp="1"/>
          </p:cNvSpPr>
          <p:nvPr>
            <p:ph type="title"/>
          </p:nvPr>
        </p:nvSpPr>
        <p:spPr>
          <a:xfrm>
            <a:off x="1375129" y="131452"/>
            <a:ext cx="10018713" cy="1673759"/>
          </a:xfrm>
        </p:spPr>
        <p:txBody>
          <a:bodyPr/>
          <a:lstStyle/>
          <a:p>
            <a:r>
              <a:rPr lang="en-US" b="1" dirty="0">
                <a:solidFill>
                  <a:schemeClr val="bg1"/>
                </a:solidFill>
              </a:rPr>
              <a:t>Design strategy</a:t>
            </a:r>
            <a:br>
              <a:rPr lang="en-US" b="1" dirty="0">
                <a:solidFill>
                  <a:schemeClr val="bg1"/>
                </a:solidFill>
              </a:rPr>
            </a:br>
            <a:endParaRPr lang="en-US" sz="3200" b="1" dirty="0">
              <a:solidFill>
                <a:schemeClr val="bg1"/>
              </a:solidFill>
            </a:endParaRPr>
          </a:p>
        </p:txBody>
      </p:sp>
      <p:pic>
        <p:nvPicPr>
          <p:cNvPr id="12" name="Graphic 11" descr="Tools">
            <a:extLst>
              <a:ext uri="{FF2B5EF4-FFF2-40B4-BE49-F238E27FC236}">
                <a16:creationId xmlns:a16="http://schemas.microsoft.com/office/drawing/2014/main" id="{A6DA3865-A47F-40D6-90AF-11F57C40230F}"/>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090382" y="1805211"/>
            <a:ext cx="570931" cy="570931"/>
          </a:xfrm>
          <a:prstGeom prst="rect">
            <a:avLst/>
          </a:prstGeom>
        </p:spPr>
      </p:pic>
      <p:sp>
        <p:nvSpPr>
          <p:cNvPr id="13" name="TextBox 12">
            <a:extLst>
              <a:ext uri="{FF2B5EF4-FFF2-40B4-BE49-F238E27FC236}">
                <a16:creationId xmlns:a16="http://schemas.microsoft.com/office/drawing/2014/main" id="{46CBF839-A471-45F7-9441-AAC98FB5FFD9}"/>
              </a:ext>
            </a:extLst>
          </p:cNvPr>
          <p:cNvSpPr txBox="1"/>
          <p:nvPr/>
        </p:nvSpPr>
        <p:spPr>
          <a:xfrm>
            <a:off x="2661313" y="1884051"/>
            <a:ext cx="5090615" cy="523220"/>
          </a:xfrm>
          <a:prstGeom prst="rect">
            <a:avLst/>
          </a:prstGeom>
          <a:noFill/>
        </p:spPr>
        <p:txBody>
          <a:bodyPr wrap="square" rtlCol="0">
            <a:spAutoFit/>
          </a:bodyPr>
          <a:lstStyle/>
          <a:p>
            <a:r>
              <a:rPr lang="en-US" sz="2800" b="1" dirty="0"/>
              <a:t>CAD modelling</a:t>
            </a:r>
          </a:p>
        </p:txBody>
      </p:sp>
      <p:pic>
        <p:nvPicPr>
          <p:cNvPr id="16" name="Picture 15">
            <a:extLst>
              <a:ext uri="{FF2B5EF4-FFF2-40B4-BE49-F238E27FC236}">
                <a16:creationId xmlns:a16="http://schemas.microsoft.com/office/drawing/2014/main" id="{9AE822BC-69CA-45BF-BF5B-12B5D57D3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193" y="2780699"/>
            <a:ext cx="2185041" cy="3340062"/>
          </a:xfrm>
          <a:prstGeom prst="rect">
            <a:avLst/>
          </a:prstGeom>
        </p:spPr>
      </p:pic>
      <p:pic>
        <p:nvPicPr>
          <p:cNvPr id="18" name="Picture 17">
            <a:extLst>
              <a:ext uri="{FF2B5EF4-FFF2-40B4-BE49-F238E27FC236}">
                <a16:creationId xmlns:a16="http://schemas.microsoft.com/office/drawing/2014/main" id="{8513BE09-7799-41DA-9FD7-00E8FFB2B4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9981" y="2900928"/>
            <a:ext cx="3551200" cy="2462642"/>
          </a:xfrm>
          <a:prstGeom prst="rect">
            <a:avLst/>
          </a:prstGeom>
        </p:spPr>
      </p:pic>
      <p:pic>
        <p:nvPicPr>
          <p:cNvPr id="20" name="Picture 19">
            <a:extLst>
              <a:ext uri="{FF2B5EF4-FFF2-40B4-BE49-F238E27FC236}">
                <a16:creationId xmlns:a16="http://schemas.microsoft.com/office/drawing/2014/main" id="{0F0F94C5-36D8-4F94-9C74-52474742E9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30520" y="2780699"/>
            <a:ext cx="1832610" cy="2819400"/>
          </a:xfrm>
          <a:prstGeom prst="rect">
            <a:avLst/>
          </a:prstGeom>
        </p:spPr>
      </p:pic>
    </p:spTree>
    <p:extLst>
      <p:ext uri="{BB962C8B-B14F-4D97-AF65-F5344CB8AC3E}">
        <p14:creationId xmlns:p14="http://schemas.microsoft.com/office/powerpoint/2010/main" val="3334696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E37F90-675E-4669-A1EE-F0BD12F44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3376" y="420468"/>
            <a:ext cx="3158433" cy="4620794"/>
          </a:xfrm>
          <a:prstGeom prst="rect">
            <a:avLst/>
          </a:prstGeom>
        </p:spPr>
      </p:pic>
      <p:pic>
        <p:nvPicPr>
          <p:cNvPr id="6" name="Picture 5">
            <a:extLst>
              <a:ext uri="{FF2B5EF4-FFF2-40B4-BE49-F238E27FC236}">
                <a16:creationId xmlns:a16="http://schemas.microsoft.com/office/drawing/2014/main" id="{F493EF2E-76F3-42F9-8D67-5145474B0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0683" y="420468"/>
            <a:ext cx="5730240" cy="4419600"/>
          </a:xfrm>
          <a:prstGeom prst="rect">
            <a:avLst/>
          </a:prstGeom>
        </p:spPr>
      </p:pic>
      <p:sp>
        <p:nvSpPr>
          <p:cNvPr id="8" name="TextBox 7">
            <a:extLst>
              <a:ext uri="{FF2B5EF4-FFF2-40B4-BE49-F238E27FC236}">
                <a16:creationId xmlns:a16="http://schemas.microsoft.com/office/drawing/2014/main" id="{752526F9-11AC-434E-A2C2-C61A02401A12}"/>
              </a:ext>
            </a:extLst>
          </p:cNvPr>
          <p:cNvSpPr txBox="1"/>
          <p:nvPr/>
        </p:nvSpPr>
        <p:spPr>
          <a:xfrm>
            <a:off x="2150546" y="5225928"/>
            <a:ext cx="3158433" cy="369332"/>
          </a:xfrm>
          <a:prstGeom prst="rect">
            <a:avLst/>
          </a:prstGeom>
          <a:noFill/>
        </p:spPr>
        <p:txBody>
          <a:bodyPr wrap="square" rtlCol="0">
            <a:spAutoFit/>
          </a:bodyPr>
          <a:lstStyle/>
          <a:p>
            <a:pPr algn="ctr"/>
            <a:r>
              <a:rPr lang="en-US" dirty="0"/>
              <a:t>Full assembly</a:t>
            </a:r>
          </a:p>
        </p:txBody>
      </p:sp>
      <p:sp>
        <p:nvSpPr>
          <p:cNvPr id="9" name="TextBox 8">
            <a:extLst>
              <a:ext uri="{FF2B5EF4-FFF2-40B4-BE49-F238E27FC236}">
                <a16:creationId xmlns:a16="http://schemas.microsoft.com/office/drawing/2014/main" id="{1C2FF204-3486-45DE-9DF0-CFC65ECEC8E5}"/>
              </a:ext>
            </a:extLst>
          </p:cNvPr>
          <p:cNvSpPr txBox="1"/>
          <p:nvPr/>
        </p:nvSpPr>
        <p:spPr>
          <a:xfrm>
            <a:off x="7465325" y="5041262"/>
            <a:ext cx="3466532" cy="369332"/>
          </a:xfrm>
          <a:prstGeom prst="rect">
            <a:avLst/>
          </a:prstGeom>
          <a:noFill/>
        </p:spPr>
        <p:txBody>
          <a:bodyPr wrap="square" rtlCol="0">
            <a:spAutoFit/>
          </a:bodyPr>
          <a:lstStyle/>
          <a:p>
            <a:pPr algn="ctr"/>
            <a:r>
              <a:rPr lang="en-US" dirty="0"/>
              <a:t>Section view</a:t>
            </a:r>
          </a:p>
        </p:txBody>
      </p:sp>
    </p:spTree>
    <p:extLst>
      <p:ext uri="{BB962C8B-B14F-4D97-AF65-F5344CB8AC3E}">
        <p14:creationId xmlns:p14="http://schemas.microsoft.com/office/powerpoint/2010/main" val="1348334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464C2-B154-4600-8FC8-0C23AFA2CC64}"/>
              </a:ext>
            </a:extLst>
          </p:cNvPr>
          <p:cNvSpPr>
            <a:spLocks noGrp="1"/>
          </p:cNvSpPr>
          <p:nvPr>
            <p:ph type="title"/>
          </p:nvPr>
        </p:nvSpPr>
        <p:spPr>
          <a:xfrm>
            <a:off x="1" y="0"/>
            <a:ext cx="12192000" cy="1485333"/>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dirty="0"/>
              <a:t>Thermal and hydraulic calculation by MATLAB</a:t>
            </a:r>
          </a:p>
        </p:txBody>
      </p:sp>
      <p:sp>
        <p:nvSpPr>
          <p:cNvPr id="23" name="TextBox 22">
            <a:extLst>
              <a:ext uri="{FF2B5EF4-FFF2-40B4-BE49-F238E27FC236}">
                <a16:creationId xmlns:a16="http://schemas.microsoft.com/office/drawing/2014/main" id="{A826F75A-651E-476D-AF9E-BED505D3F084}"/>
              </a:ext>
            </a:extLst>
          </p:cNvPr>
          <p:cNvSpPr txBox="1"/>
          <p:nvPr/>
        </p:nvSpPr>
        <p:spPr>
          <a:xfrm>
            <a:off x="2744805" y="5989959"/>
            <a:ext cx="3339152" cy="369332"/>
          </a:xfrm>
          <a:prstGeom prst="rect">
            <a:avLst/>
          </a:prstGeom>
          <a:noFill/>
        </p:spPr>
        <p:txBody>
          <a:bodyPr wrap="square" rtlCol="0">
            <a:spAutoFit/>
          </a:bodyPr>
          <a:lstStyle/>
          <a:p>
            <a:r>
              <a:rPr lang="en-US" dirty="0"/>
              <a:t>Rating calculation</a:t>
            </a:r>
          </a:p>
        </p:txBody>
      </p:sp>
      <p:sp>
        <p:nvSpPr>
          <p:cNvPr id="24" name="TextBox 23">
            <a:extLst>
              <a:ext uri="{FF2B5EF4-FFF2-40B4-BE49-F238E27FC236}">
                <a16:creationId xmlns:a16="http://schemas.microsoft.com/office/drawing/2014/main" id="{A902A65C-75ED-484C-871A-CD05D432316D}"/>
              </a:ext>
            </a:extLst>
          </p:cNvPr>
          <p:cNvSpPr txBox="1"/>
          <p:nvPr/>
        </p:nvSpPr>
        <p:spPr>
          <a:xfrm>
            <a:off x="6598209" y="4801016"/>
            <a:ext cx="2820301" cy="369332"/>
          </a:xfrm>
          <a:prstGeom prst="rect">
            <a:avLst/>
          </a:prstGeom>
          <a:noFill/>
        </p:spPr>
        <p:txBody>
          <a:bodyPr wrap="square" rtlCol="0">
            <a:spAutoFit/>
          </a:bodyPr>
          <a:lstStyle/>
          <a:p>
            <a:r>
              <a:rPr lang="en-US" dirty="0"/>
              <a:t>Design calculation</a:t>
            </a:r>
          </a:p>
        </p:txBody>
      </p:sp>
      <p:pic>
        <p:nvPicPr>
          <p:cNvPr id="4" name="Picture 3">
            <a:extLst>
              <a:ext uri="{FF2B5EF4-FFF2-40B4-BE49-F238E27FC236}">
                <a16:creationId xmlns:a16="http://schemas.microsoft.com/office/drawing/2014/main" id="{BC4E3684-562D-4532-9786-78B1753E8BB5}"/>
              </a:ext>
            </a:extLst>
          </p:cNvPr>
          <p:cNvPicPr>
            <a:picLocks noChangeAspect="1"/>
          </p:cNvPicPr>
          <p:nvPr/>
        </p:nvPicPr>
        <p:blipFill rotWithShape="1">
          <a:blip r:embed="rId2">
            <a:extLst>
              <a:ext uri="{28A0092B-C50C-407E-A947-70E740481C1C}">
                <a14:useLocalDpi xmlns:a14="http://schemas.microsoft.com/office/drawing/2010/main" val="0"/>
              </a:ext>
            </a:extLst>
          </a:blip>
          <a:srcRect l="21872" t="30007" r="55219" b="10846"/>
          <a:stretch/>
        </p:blipFill>
        <p:spPr>
          <a:xfrm>
            <a:off x="2852381" y="1577453"/>
            <a:ext cx="3023984" cy="4391613"/>
          </a:xfrm>
          <a:prstGeom prst="rect">
            <a:avLst/>
          </a:prstGeom>
        </p:spPr>
      </p:pic>
      <p:pic>
        <p:nvPicPr>
          <p:cNvPr id="8" name="Picture 7">
            <a:extLst>
              <a:ext uri="{FF2B5EF4-FFF2-40B4-BE49-F238E27FC236}">
                <a16:creationId xmlns:a16="http://schemas.microsoft.com/office/drawing/2014/main" id="{C1FDDC21-A9FE-45F3-8C01-403056F76E6D}"/>
              </a:ext>
            </a:extLst>
          </p:cNvPr>
          <p:cNvPicPr>
            <a:picLocks noChangeAspect="1"/>
          </p:cNvPicPr>
          <p:nvPr/>
        </p:nvPicPr>
        <p:blipFill rotWithShape="1">
          <a:blip r:embed="rId3">
            <a:extLst>
              <a:ext uri="{28A0092B-C50C-407E-A947-70E740481C1C}">
                <a14:useLocalDpi xmlns:a14="http://schemas.microsoft.com/office/drawing/2010/main" val="0"/>
              </a:ext>
            </a:extLst>
          </a:blip>
          <a:srcRect l="21728" t="24117" r="56434" b="30257"/>
          <a:stretch/>
        </p:blipFill>
        <p:spPr>
          <a:xfrm>
            <a:off x="6677101" y="1577453"/>
            <a:ext cx="2662518" cy="3129018"/>
          </a:xfrm>
          <a:prstGeom prst="rect">
            <a:avLst/>
          </a:prstGeom>
        </p:spPr>
      </p:pic>
    </p:spTree>
    <p:extLst>
      <p:ext uri="{BB962C8B-B14F-4D97-AF65-F5344CB8AC3E}">
        <p14:creationId xmlns:p14="http://schemas.microsoft.com/office/powerpoint/2010/main" val="3002251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Diagonal Corners Snipped 2">
            <a:extLst>
              <a:ext uri="{FF2B5EF4-FFF2-40B4-BE49-F238E27FC236}">
                <a16:creationId xmlns:a16="http://schemas.microsoft.com/office/drawing/2014/main" id="{C1FEC384-FF1D-48F9-853C-5082164E0738}"/>
              </a:ext>
            </a:extLst>
          </p:cNvPr>
          <p:cNvSpPr/>
          <p:nvPr/>
        </p:nvSpPr>
        <p:spPr>
          <a:xfrm>
            <a:off x="2388358" y="685800"/>
            <a:ext cx="5568287" cy="883693"/>
          </a:xfrm>
          <a:prstGeom prst="snip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477FCF-81F8-427A-9E77-B4EDD8B55872}"/>
              </a:ext>
            </a:extLst>
          </p:cNvPr>
          <p:cNvSpPr>
            <a:spLocks noGrp="1"/>
          </p:cNvSpPr>
          <p:nvPr>
            <p:ph type="title"/>
          </p:nvPr>
        </p:nvSpPr>
        <p:spPr>
          <a:xfrm>
            <a:off x="365195" y="233150"/>
            <a:ext cx="10018713" cy="1752599"/>
          </a:xfrm>
        </p:spPr>
        <p:txBody>
          <a:bodyPr/>
          <a:lstStyle/>
          <a:p>
            <a:r>
              <a:rPr lang="en-US" dirty="0">
                <a:solidFill>
                  <a:schemeClr val="bg1"/>
                </a:solidFill>
              </a:rPr>
              <a:t>Final results</a:t>
            </a:r>
          </a:p>
        </p:txBody>
      </p:sp>
      <p:sp>
        <p:nvSpPr>
          <p:cNvPr id="4" name="TextBox 3">
            <a:extLst>
              <a:ext uri="{FF2B5EF4-FFF2-40B4-BE49-F238E27FC236}">
                <a16:creationId xmlns:a16="http://schemas.microsoft.com/office/drawing/2014/main" id="{EFE9D1D8-BA1F-4D8C-89EC-258A2E5833DA}"/>
              </a:ext>
            </a:extLst>
          </p:cNvPr>
          <p:cNvSpPr txBox="1"/>
          <p:nvPr/>
        </p:nvSpPr>
        <p:spPr>
          <a:xfrm>
            <a:off x="2089835" y="1892720"/>
            <a:ext cx="8952931" cy="452431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marL="457200" indent="-457200">
              <a:lnSpc>
                <a:spcPct val="150000"/>
              </a:lnSpc>
              <a:buFont typeface="Arial" panose="020B0604020202020204" pitchFamily="34" charset="0"/>
              <a:buChar char="•"/>
            </a:pP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Effective plate number: 6</a:t>
            </a:r>
          </a:p>
          <a:p>
            <a:pPr marL="457200" indent="-457200">
              <a:lnSpc>
                <a:spcPct val="150000"/>
              </a:lnSpc>
              <a:buFont typeface="Arial" panose="020B0604020202020204" pitchFamily="34" charset="0"/>
              <a:buChar char="•"/>
            </a:pP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Heat transfer rate, Q: 11206.3493 W</a:t>
            </a:r>
          </a:p>
          <a:p>
            <a:pPr marL="457200" indent="-457200">
              <a:lnSpc>
                <a:spcPct val="150000"/>
              </a:lnSpc>
              <a:buFont typeface="Arial" panose="020B0604020202020204" pitchFamily="34" charset="0"/>
              <a:buChar char="•"/>
            </a:pPr>
            <a:r>
              <a:rPr lang="en-US"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Outlet temperature of hot fluid (</a:t>
            </a:r>
            <a:r>
              <a:rPr lang="en-GB" sz="3200" dirty="0" err="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T</a:t>
            </a:r>
            <a:r>
              <a:rPr lang="en-GB" sz="3200" baseline="-25000" dirty="0" err="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ho</a:t>
            </a: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45.5323 ˚  C </a:t>
            </a:r>
          </a:p>
          <a:p>
            <a:pPr marL="457200" indent="-457200">
              <a:lnSpc>
                <a:spcPct val="150000"/>
              </a:lnSpc>
              <a:buFont typeface="Arial" panose="020B0604020202020204" pitchFamily="34" charset="0"/>
              <a:buChar char="•"/>
            </a:pPr>
            <a:r>
              <a:rPr lang="en-US"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Outlet temperature of cold fluid (</a:t>
            </a:r>
            <a:r>
              <a:rPr lang="en-GB" sz="3200" dirty="0" err="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T</a:t>
            </a:r>
            <a:r>
              <a:rPr lang="en-GB" sz="3200" baseline="-25000" dirty="0" err="1">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co</a:t>
            </a: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24.4671 ˚  C</a:t>
            </a:r>
          </a:p>
          <a:p>
            <a:pPr marL="457200" indent="-457200">
              <a:lnSpc>
                <a:spcPct val="150000"/>
              </a:lnSpc>
              <a:buFont typeface="Arial" panose="020B0604020202020204" pitchFamily="34" charset="0"/>
              <a:buChar char="•"/>
            </a:pP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Pressure Drop of Hot Fluid: 7952.3368 </a:t>
            </a:r>
            <a:r>
              <a:rPr lang="en-GB" sz="3200" dirty="0" smtClean="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Pa</a:t>
            </a:r>
            <a:endPar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50000"/>
              </a:lnSpc>
              <a:buFont typeface="Arial" panose="020B0604020202020204" pitchFamily="34" charset="0"/>
              <a:buChar char="•"/>
            </a:pPr>
            <a:r>
              <a:rPr lang="en-GB"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Pressure Drop of Cold Fluid: 8573.4233</a:t>
            </a:r>
            <a:r>
              <a:rPr lang="en-US"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 </a:t>
            </a:r>
            <a:r>
              <a:rPr lang="en-US" sz="3200" dirty="0" smtClean="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Pa</a:t>
            </a:r>
            <a:endParaRPr lang="en-US" sz="32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1289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25DD-A3C9-46CB-AE8B-BBBF3A459C16}"/>
              </a:ext>
            </a:extLst>
          </p:cNvPr>
          <p:cNvSpPr>
            <a:spLocks noGrp="1"/>
          </p:cNvSpPr>
          <p:nvPr>
            <p:ph type="title"/>
          </p:nvPr>
        </p:nvSpPr>
        <p:spPr>
          <a:xfrm>
            <a:off x="1484311" y="-133066"/>
            <a:ext cx="10018713" cy="1752599"/>
          </a:xfrm>
        </p:spPr>
        <p:txBody>
          <a:bodyPr/>
          <a:lstStyle/>
          <a:p>
            <a:r>
              <a:rPr lang="en-US" dirty="0"/>
              <a:t>Parametric studies</a:t>
            </a:r>
          </a:p>
        </p:txBody>
      </p:sp>
      <p:pic>
        <p:nvPicPr>
          <p:cNvPr id="4" name="Picture 3">
            <a:extLst>
              <a:ext uri="{FF2B5EF4-FFF2-40B4-BE49-F238E27FC236}">
                <a16:creationId xmlns:a16="http://schemas.microsoft.com/office/drawing/2014/main" id="{C37BDAFE-94E6-431B-B732-090BDF55E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0362" y="1321359"/>
            <a:ext cx="6204969" cy="5536641"/>
          </a:xfrm>
          <a:prstGeom prst="rect">
            <a:avLst/>
          </a:prstGeom>
        </p:spPr>
      </p:pic>
    </p:spTree>
    <p:extLst>
      <p:ext uri="{BB962C8B-B14F-4D97-AF65-F5344CB8AC3E}">
        <p14:creationId xmlns:p14="http://schemas.microsoft.com/office/powerpoint/2010/main" val="3762600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DEECEC-0BD8-402D-A5CD-EF5D14F48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63" y="648182"/>
            <a:ext cx="5333937" cy="4638470"/>
          </a:xfrm>
          <a:prstGeom prst="rect">
            <a:avLst/>
          </a:prstGeom>
        </p:spPr>
      </p:pic>
      <p:pic>
        <p:nvPicPr>
          <p:cNvPr id="6" name="Picture 5">
            <a:extLst>
              <a:ext uri="{FF2B5EF4-FFF2-40B4-BE49-F238E27FC236}">
                <a16:creationId xmlns:a16="http://schemas.microsoft.com/office/drawing/2014/main" id="{63DCE1C6-F090-49EE-9B0E-0AA261E8BA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892" y="533821"/>
            <a:ext cx="5333937" cy="4752831"/>
          </a:xfrm>
          <a:prstGeom prst="rect">
            <a:avLst/>
          </a:prstGeom>
        </p:spPr>
      </p:pic>
    </p:spTree>
    <p:extLst>
      <p:ext uri="{BB962C8B-B14F-4D97-AF65-F5344CB8AC3E}">
        <p14:creationId xmlns:p14="http://schemas.microsoft.com/office/powerpoint/2010/main" val="1684201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0689AF-B9F3-4AD3-A814-F9D40F3B5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1093" y="614128"/>
            <a:ext cx="6337255" cy="5146305"/>
          </a:xfrm>
          <a:prstGeom prst="rect">
            <a:avLst/>
          </a:prstGeom>
        </p:spPr>
      </p:pic>
      <p:pic>
        <p:nvPicPr>
          <p:cNvPr id="4" name="Picture 3">
            <a:extLst>
              <a:ext uri="{FF2B5EF4-FFF2-40B4-BE49-F238E27FC236}">
                <a16:creationId xmlns:a16="http://schemas.microsoft.com/office/drawing/2014/main" id="{1D14F25A-DB43-40C3-A14C-EA88AF3AF0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907" y="706055"/>
            <a:ext cx="5692672" cy="5054377"/>
          </a:xfrm>
          <a:prstGeom prst="rect">
            <a:avLst/>
          </a:prstGeom>
        </p:spPr>
      </p:pic>
    </p:spTree>
    <p:extLst>
      <p:ext uri="{BB962C8B-B14F-4D97-AF65-F5344CB8AC3E}">
        <p14:creationId xmlns:p14="http://schemas.microsoft.com/office/powerpoint/2010/main" val="1925968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89CAC44D-D9D7-456C-A2BB-479C7E5A9D59}"/>
              </a:ext>
            </a:extLst>
          </p:cNvPr>
          <p:cNvSpPr/>
          <p:nvPr/>
        </p:nvSpPr>
        <p:spPr>
          <a:xfrm>
            <a:off x="-34355" y="522027"/>
            <a:ext cx="11959988" cy="1388660"/>
          </a:xfrm>
          <a:prstGeom prst="homePlate">
            <a:avLst/>
          </a:prstGeom>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90D07F-74C3-4579-AED9-DE08CECFEF39}"/>
              </a:ext>
            </a:extLst>
          </p:cNvPr>
          <p:cNvSpPr>
            <a:spLocks noGrp="1"/>
          </p:cNvSpPr>
          <p:nvPr>
            <p:ph type="title"/>
          </p:nvPr>
        </p:nvSpPr>
        <p:spPr/>
        <p:txBody>
          <a:bodyPr/>
          <a:lstStyle/>
          <a:p>
            <a:r>
              <a:rPr lang="en-US" dirty="0"/>
              <a:t>Manufacturing process</a:t>
            </a:r>
            <a:br>
              <a:rPr lang="en-US" dirty="0"/>
            </a:br>
            <a:endParaRPr lang="en-US" dirty="0"/>
          </a:p>
        </p:txBody>
      </p:sp>
      <p:sp>
        <p:nvSpPr>
          <p:cNvPr id="3" name="TextBox 2">
            <a:extLst>
              <a:ext uri="{FF2B5EF4-FFF2-40B4-BE49-F238E27FC236}">
                <a16:creationId xmlns:a16="http://schemas.microsoft.com/office/drawing/2014/main" id="{B11593C2-8EF8-4F4E-BA4C-2DE6F3BCE085}"/>
              </a:ext>
            </a:extLst>
          </p:cNvPr>
          <p:cNvSpPr txBox="1"/>
          <p:nvPr/>
        </p:nvSpPr>
        <p:spPr>
          <a:xfrm>
            <a:off x="1757837" y="2602172"/>
            <a:ext cx="10202151" cy="2308324"/>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2400" dirty="0"/>
              <a:t>Material selection:</a:t>
            </a:r>
          </a:p>
          <a:p>
            <a:r>
              <a:rPr lang="en-US" sz="2400" dirty="0"/>
              <a:t>Material for plate: we used corrugated Aluminums for plate as it has good conductivity also cheaper than copper. Also market availability is a reason.</a:t>
            </a:r>
          </a:p>
          <a:p>
            <a:r>
              <a:rPr lang="en-US" sz="2400" dirty="0"/>
              <a:t>Cover plate material: We used Mild steel as cover plate material as they are strong. Thus give good compatibility to our gasket and plate</a:t>
            </a:r>
          </a:p>
          <a:p>
            <a:r>
              <a:rPr lang="en-US" sz="2400" dirty="0"/>
              <a:t>Gasket material: we used rubber for gasket</a:t>
            </a:r>
          </a:p>
        </p:txBody>
      </p:sp>
    </p:spTree>
    <p:extLst>
      <p:ext uri="{BB962C8B-B14F-4D97-AF65-F5344CB8AC3E}">
        <p14:creationId xmlns:p14="http://schemas.microsoft.com/office/powerpoint/2010/main" val="1134715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28DA-52B3-42A9-9F55-42A52D3DF42E}"/>
              </a:ext>
            </a:extLst>
          </p:cNvPr>
          <p:cNvSpPr>
            <a:spLocks noGrp="1"/>
          </p:cNvSpPr>
          <p:nvPr>
            <p:ph type="title"/>
          </p:nvPr>
        </p:nvSpPr>
        <p:spPr>
          <a:xfrm>
            <a:off x="3382921" y="-356868"/>
            <a:ext cx="5426158" cy="1371600"/>
          </a:xfrm>
        </p:spPr>
        <p:txBody>
          <a:bodyPr/>
          <a:lstStyle/>
          <a:p>
            <a:r>
              <a:rPr lang="en-US" dirty="0"/>
              <a:t>Manufacturing process</a:t>
            </a:r>
          </a:p>
        </p:txBody>
      </p:sp>
      <p:pic>
        <p:nvPicPr>
          <p:cNvPr id="10" name="Picture Placeholder 9">
            <a:extLst>
              <a:ext uri="{FF2B5EF4-FFF2-40B4-BE49-F238E27FC236}">
                <a16:creationId xmlns:a16="http://schemas.microsoft.com/office/drawing/2014/main" id="{22A88780-690E-41A7-B021-FCCA297D088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0794" r="10794"/>
          <a:stretch>
            <a:fillRect/>
          </a:stretch>
        </p:blipFill>
        <p:spPr>
          <a:xfrm>
            <a:off x="3419315" y="3642247"/>
            <a:ext cx="4089778" cy="3017861"/>
          </a:xfrm>
        </p:spPr>
      </p:pic>
      <p:sp>
        <p:nvSpPr>
          <p:cNvPr id="4" name="Text Placeholder 3">
            <a:extLst>
              <a:ext uri="{FF2B5EF4-FFF2-40B4-BE49-F238E27FC236}">
                <a16:creationId xmlns:a16="http://schemas.microsoft.com/office/drawing/2014/main" id="{6EC610B9-D173-4D2E-8610-EADDAC82D316}"/>
              </a:ext>
            </a:extLst>
          </p:cNvPr>
          <p:cNvSpPr>
            <a:spLocks noGrp="1"/>
          </p:cNvSpPr>
          <p:nvPr>
            <p:ph type="body" sz="half" idx="2"/>
          </p:nvPr>
        </p:nvSpPr>
        <p:spPr>
          <a:xfrm>
            <a:off x="1700798" y="1178949"/>
            <a:ext cx="5426158" cy="2299080"/>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r>
              <a:rPr lang="en-US" b="1" dirty="0"/>
              <a:t>1. Cutting plate</a:t>
            </a:r>
          </a:p>
          <a:p>
            <a:r>
              <a:rPr lang="en-US" dirty="0"/>
              <a:t>We cut the plate according to our calculated dimension</a:t>
            </a:r>
          </a:p>
          <a:p>
            <a:r>
              <a:rPr lang="en-US" b="1" dirty="0"/>
              <a:t>2. Making of holes in the plate</a:t>
            </a:r>
          </a:p>
          <a:p>
            <a:r>
              <a:rPr lang="en-US" dirty="0"/>
              <a:t>Our hole diameter is 1 inch.</a:t>
            </a:r>
          </a:p>
          <a:p>
            <a:r>
              <a:rPr lang="en-US" dirty="0"/>
              <a:t>Grinding was needed for hole finishing</a:t>
            </a:r>
          </a:p>
          <a:p>
            <a:endParaRPr lang="en-US" dirty="0"/>
          </a:p>
        </p:txBody>
      </p:sp>
      <p:pic>
        <p:nvPicPr>
          <p:cNvPr id="11" name="Picture Placeholder 9">
            <a:extLst>
              <a:ext uri="{FF2B5EF4-FFF2-40B4-BE49-F238E27FC236}">
                <a16:creationId xmlns:a16="http://schemas.microsoft.com/office/drawing/2014/main" id="{79001BFB-4CF4-49DF-93B5-12531E5D1D92}"/>
              </a:ext>
            </a:extLst>
          </p:cNvPr>
          <p:cNvPicPr>
            <a:picLocks noChangeAspect="1"/>
          </p:cNvPicPr>
          <p:nvPr/>
        </p:nvPicPr>
        <p:blipFill>
          <a:blip r:embed="rId3">
            <a:extLst>
              <a:ext uri="{BEBA8EAE-BF5A-486C-A8C5-ECC9F3942E4B}">
                <a14:imgProps xmlns:a14="http://schemas.microsoft.com/office/drawing/2010/main">
                  <a14:imgLayer r:embed="rId4">
                    <a14:imgEffect>
                      <a14:saturation sat="160000"/>
                    </a14:imgEffect>
                    <a14:imgEffect>
                      <a14:brightnessContrast bright="-6000"/>
                    </a14:imgEffect>
                  </a14:imgLayer>
                </a14:imgProps>
              </a:ext>
              <a:ext uri="{28A0092B-C50C-407E-A947-70E740481C1C}">
                <a14:useLocalDpi xmlns:a14="http://schemas.microsoft.com/office/drawing/2010/main" val="0"/>
              </a:ext>
            </a:extLst>
          </a:blip>
          <a:srcRect/>
          <a:stretch/>
        </p:blipFill>
        <p:spPr>
          <a:xfrm>
            <a:off x="8809079" y="1343167"/>
            <a:ext cx="2295073" cy="4970717"/>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softEdge rad="12700"/>
          </a:effectLst>
        </p:spPr>
      </p:pic>
    </p:spTree>
    <p:extLst>
      <p:ext uri="{BB962C8B-B14F-4D97-AF65-F5344CB8AC3E}">
        <p14:creationId xmlns:p14="http://schemas.microsoft.com/office/powerpoint/2010/main" val="2447449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9E8BD-6C99-4EDD-BEBB-3A95F8EC3E20}"/>
              </a:ext>
            </a:extLst>
          </p:cNvPr>
          <p:cNvSpPr>
            <a:spLocks noGrp="1"/>
          </p:cNvSpPr>
          <p:nvPr>
            <p:ph type="title"/>
          </p:nvPr>
        </p:nvSpPr>
        <p:spPr>
          <a:xfrm>
            <a:off x="3382921" y="-473003"/>
            <a:ext cx="5426158" cy="1371600"/>
          </a:xfrm>
        </p:spPr>
        <p:txBody>
          <a:bodyPr/>
          <a:lstStyle/>
          <a:p>
            <a:r>
              <a:rPr lang="en-US" dirty="0"/>
              <a:t>Manufacturing process</a:t>
            </a:r>
          </a:p>
        </p:txBody>
      </p:sp>
      <p:pic>
        <p:nvPicPr>
          <p:cNvPr id="8" name="Picture Placeholder 7">
            <a:extLst>
              <a:ext uri="{FF2B5EF4-FFF2-40B4-BE49-F238E27FC236}">
                <a16:creationId xmlns:a16="http://schemas.microsoft.com/office/drawing/2014/main" id="{9849846A-E813-4ABA-887D-4D3D2B1FA7E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1836" r="11836"/>
          <a:stretch>
            <a:fillRect/>
          </a:stretch>
        </p:blipFill>
        <p:spPr>
          <a:xfrm>
            <a:off x="1723144" y="1355978"/>
            <a:ext cx="3276487" cy="2845558"/>
          </a:xfrm>
        </p:spPr>
      </p:pic>
      <p:sp>
        <p:nvSpPr>
          <p:cNvPr id="4" name="Text Placeholder 3">
            <a:extLst>
              <a:ext uri="{FF2B5EF4-FFF2-40B4-BE49-F238E27FC236}">
                <a16:creationId xmlns:a16="http://schemas.microsoft.com/office/drawing/2014/main" id="{4C229287-4DA8-4969-BB93-C4EAD186D379}"/>
              </a:ext>
            </a:extLst>
          </p:cNvPr>
          <p:cNvSpPr>
            <a:spLocks noGrp="1"/>
          </p:cNvSpPr>
          <p:nvPr>
            <p:ph type="body" sz="half" idx="2"/>
          </p:nvPr>
        </p:nvSpPr>
        <p:spPr>
          <a:xfrm>
            <a:off x="5308978" y="2092957"/>
            <a:ext cx="4627614" cy="1371600"/>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b="1" dirty="0"/>
              <a:t>3. Gasket making</a:t>
            </a:r>
          </a:p>
          <a:p>
            <a:r>
              <a:rPr lang="en-US" dirty="0"/>
              <a:t>We made the gasket manually with cutters</a:t>
            </a:r>
          </a:p>
          <a:p>
            <a:r>
              <a:rPr lang="en-US" dirty="0"/>
              <a:t>To get our desired shape </a:t>
            </a:r>
          </a:p>
          <a:p>
            <a:endParaRPr lang="en-US" dirty="0"/>
          </a:p>
        </p:txBody>
      </p:sp>
      <p:pic>
        <p:nvPicPr>
          <p:cNvPr id="9" name="Picture Placeholder 5">
            <a:extLst>
              <a:ext uri="{FF2B5EF4-FFF2-40B4-BE49-F238E27FC236}">
                <a16:creationId xmlns:a16="http://schemas.microsoft.com/office/drawing/2014/main" id="{E8AAB896-C369-43DC-B5EA-7A7C589128E7}"/>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l="308" t="6744" r="-353" b="1269"/>
          <a:stretch/>
        </p:blipFill>
        <p:spPr>
          <a:xfrm>
            <a:off x="7469324" y="4201536"/>
            <a:ext cx="3507474" cy="2418727"/>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11" name="Text Placeholder 3">
            <a:extLst>
              <a:ext uri="{FF2B5EF4-FFF2-40B4-BE49-F238E27FC236}">
                <a16:creationId xmlns:a16="http://schemas.microsoft.com/office/drawing/2014/main" id="{C8E2AF92-642A-4C58-8258-8F48658EA0E2}"/>
              </a:ext>
            </a:extLst>
          </p:cNvPr>
          <p:cNvSpPr txBox="1">
            <a:spLocks/>
          </p:cNvSpPr>
          <p:nvPr/>
        </p:nvSpPr>
        <p:spPr>
          <a:xfrm>
            <a:off x="3193576" y="5116298"/>
            <a:ext cx="3897075" cy="1422078"/>
          </a:xfrm>
          <a:prstGeom prst="rect">
            <a:avLst/>
          </a:prstGeom>
          <a:solidFill>
            <a:schemeClr val="accent1">
              <a:alpha val="50000"/>
            </a:schemeClr>
          </a:soli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lt1"/>
                </a:solidFill>
                <a:effectLst/>
                <a:latin typeface="+mn-lt"/>
                <a:ea typeface="+mn-ea"/>
                <a:cs typeface="+mn-cs"/>
              </a:defRPr>
            </a:lvl1pPr>
            <a:lvl2pPr marL="457200" indent="0" algn="l" defTabSz="457200" rtl="0" eaLnBrk="1" latinLnBrk="0" hangingPunct="1">
              <a:spcBef>
                <a:spcPct val="20000"/>
              </a:spcBef>
              <a:spcAft>
                <a:spcPts val="600"/>
              </a:spcAft>
              <a:buClr>
                <a:schemeClr val="accent1">
                  <a:lumMod val="75000"/>
                </a:schemeClr>
              </a:buClr>
              <a:buSzPct val="145000"/>
              <a:buFont typeface="Arial"/>
              <a:buNone/>
              <a:defRPr sz="1200" kern="1200" cap="none">
                <a:solidFill>
                  <a:schemeClr val="lt1"/>
                </a:solidFill>
                <a:effectLst/>
                <a:latin typeface="+mn-lt"/>
                <a:ea typeface="+mn-ea"/>
                <a:cs typeface="+mn-cs"/>
              </a:defRPr>
            </a:lvl2pPr>
            <a:lvl3pPr marL="914400" indent="0" algn="l" defTabSz="457200" rtl="0" eaLnBrk="1" latinLnBrk="0" hangingPunct="1">
              <a:spcBef>
                <a:spcPct val="20000"/>
              </a:spcBef>
              <a:spcAft>
                <a:spcPts val="600"/>
              </a:spcAft>
              <a:buClr>
                <a:schemeClr val="accent1">
                  <a:lumMod val="75000"/>
                </a:schemeClr>
              </a:buClr>
              <a:buSzPct val="145000"/>
              <a:buFont typeface="Arial"/>
              <a:buNone/>
              <a:defRPr sz="1000" kern="1200" cap="none">
                <a:solidFill>
                  <a:schemeClr val="lt1"/>
                </a:solidFill>
                <a:effectLst/>
                <a:latin typeface="+mn-lt"/>
                <a:ea typeface="+mn-ea"/>
                <a:cs typeface="+mn-cs"/>
              </a:defRPr>
            </a:lvl3pPr>
            <a:lvl4pPr marL="13716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4pPr>
            <a:lvl5pPr marL="18288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5pPr>
            <a:lvl6pPr marL="22860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6pPr>
            <a:lvl7pPr marL="27432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7pPr>
            <a:lvl8pPr marL="32004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8pPr>
            <a:lvl9pPr marL="3657600" indent="0" algn="l" defTabSz="457200" rtl="0" eaLnBrk="1" latinLnBrk="0" hangingPunct="1">
              <a:spcBef>
                <a:spcPct val="20000"/>
              </a:spcBef>
              <a:spcAft>
                <a:spcPts val="600"/>
              </a:spcAft>
              <a:buClr>
                <a:schemeClr val="accent1">
                  <a:lumMod val="75000"/>
                </a:schemeClr>
              </a:buClr>
              <a:buSzPct val="145000"/>
              <a:buFont typeface="Arial"/>
              <a:buNone/>
              <a:defRPr sz="900" kern="1200" cap="none">
                <a:solidFill>
                  <a:schemeClr val="lt1"/>
                </a:solidFill>
                <a:effectLst/>
                <a:latin typeface="+mn-lt"/>
                <a:ea typeface="+mn-ea"/>
                <a:cs typeface="+mn-cs"/>
              </a:defRPr>
            </a:lvl9pPr>
          </a:lstStyle>
          <a:p>
            <a:r>
              <a:rPr lang="en-US" b="1" dirty="0"/>
              <a:t>4. Making cover plate</a:t>
            </a:r>
          </a:p>
          <a:p>
            <a:r>
              <a:rPr lang="en-US" dirty="0"/>
              <a:t>We drilled according to our plate and GI pipe were welded to the cover plate for inlet and outlet</a:t>
            </a:r>
          </a:p>
        </p:txBody>
      </p:sp>
    </p:spTree>
    <p:extLst>
      <p:ext uri="{BB962C8B-B14F-4D97-AF65-F5344CB8AC3E}">
        <p14:creationId xmlns:p14="http://schemas.microsoft.com/office/powerpoint/2010/main" val="224113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F8CD9-AD1A-46C9-B59D-65900F87AA71}"/>
              </a:ext>
            </a:extLst>
          </p:cNvPr>
          <p:cNvSpPr>
            <a:spLocks noGrp="1"/>
          </p:cNvSpPr>
          <p:nvPr>
            <p:ph type="title"/>
          </p:nvPr>
        </p:nvSpPr>
        <p:spPr>
          <a:xfrm>
            <a:off x="4001454" y="-335509"/>
            <a:ext cx="5426158" cy="1371600"/>
          </a:xfrm>
        </p:spPr>
        <p:txBody>
          <a:bodyPr/>
          <a:lstStyle/>
          <a:p>
            <a:r>
              <a:rPr lang="en-US" dirty="0"/>
              <a:t>Manufacturing process</a:t>
            </a:r>
          </a:p>
        </p:txBody>
      </p:sp>
      <p:sp>
        <p:nvSpPr>
          <p:cNvPr id="4" name="Text Placeholder 3">
            <a:extLst>
              <a:ext uri="{FF2B5EF4-FFF2-40B4-BE49-F238E27FC236}">
                <a16:creationId xmlns:a16="http://schemas.microsoft.com/office/drawing/2014/main" id="{0E096B95-BA2E-498B-8890-95119F076853}"/>
              </a:ext>
            </a:extLst>
          </p:cNvPr>
          <p:cNvSpPr>
            <a:spLocks noGrp="1"/>
          </p:cNvSpPr>
          <p:nvPr>
            <p:ph type="body" sz="half" idx="2"/>
          </p:nvPr>
        </p:nvSpPr>
        <p:spPr>
          <a:xfrm>
            <a:off x="1804837" y="1189629"/>
            <a:ext cx="5750755" cy="1371600"/>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b="1" dirty="0"/>
              <a:t>5.Final assembly</a:t>
            </a:r>
          </a:p>
          <a:p>
            <a:r>
              <a:rPr lang="en-US" dirty="0"/>
              <a:t>We used double sided bolt and nut joint to stack gasket and plates together</a:t>
            </a:r>
          </a:p>
        </p:txBody>
      </p:sp>
      <p:pic>
        <p:nvPicPr>
          <p:cNvPr id="8" name="Picture 7">
            <a:extLst>
              <a:ext uri="{FF2B5EF4-FFF2-40B4-BE49-F238E27FC236}">
                <a16:creationId xmlns:a16="http://schemas.microsoft.com/office/drawing/2014/main" id="{ACF290E4-C106-4553-9AB9-DA76F21E0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4758" y="1919784"/>
            <a:ext cx="4152033" cy="3114025"/>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580F5897-CAA2-4EE7-A108-A928D54EEE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2779" y="2788889"/>
            <a:ext cx="4913648" cy="3685237"/>
          </a:xfrm>
          <a:prstGeom prst="rect">
            <a:avLst/>
          </a:prstGeom>
        </p:spPr>
      </p:pic>
    </p:spTree>
    <p:extLst>
      <p:ext uri="{BB962C8B-B14F-4D97-AF65-F5344CB8AC3E}">
        <p14:creationId xmlns:p14="http://schemas.microsoft.com/office/powerpoint/2010/main" val="2840827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8A0F-3CB0-4979-A2F7-6172531EEF9D}"/>
              </a:ext>
            </a:extLst>
          </p:cNvPr>
          <p:cNvSpPr>
            <a:spLocks noGrp="1"/>
          </p:cNvSpPr>
          <p:nvPr>
            <p:ph type="title"/>
          </p:nvPr>
        </p:nvSpPr>
        <p:spPr>
          <a:xfrm>
            <a:off x="2101755" y="685800"/>
            <a:ext cx="10090245" cy="1306773"/>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dirty="0"/>
              <a:t>Performance testing</a:t>
            </a:r>
          </a:p>
        </p:txBody>
      </p:sp>
      <p:sp>
        <p:nvSpPr>
          <p:cNvPr id="3" name="TextBox 2">
            <a:extLst>
              <a:ext uri="{FF2B5EF4-FFF2-40B4-BE49-F238E27FC236}">
                <a16:creationId xmlns:a16="http://schemas.microsoft.com/office/drawing/2014/main" id="{7E48AFB5-5B3D-48B5-93C1-4C027E80715B}"/>
              </a:ext>
            </a:extLst>
          </p:cNvPr>
          <p:cNvSpPr txBox="1"/>
          <p:nvPr/>
        </p:nvSpPr>
        <p:spPr>
          <a:xfrm>
            <a:off x="2101755" y="2967335"/>
            <a:ext cx="9807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Our heat exchanger </a:t>
            </a:r>
            <a:r>
              <a:rPr lang="en-US" sz="2400" dirty="0" smtClean="0"/>
              <a:t>withstands </a:t>
            </a:r>
            <a:r>
              <a:rPr lang="en-US" sz="2400" dirty="0"/>
              <a:t>the highest flowrate(1 m</a:t>
            </a:r>
            <a:r>
              <a:rPr lang="en-US" sz="2400" baseline="30000" dirty="0"/>
              <a:t>3</a:t>
            </a:r>
            <a:r>
              <a:rPr lang="en-US" sz="2400" dirty="0"/>
              <a:t>/</a:t>
            </a:r>
            <a:r>
              <a:rPr lang="en-US" sz="2400" dirty="0" err="1"/>
              <a:t>hr</a:t>
            </a:r>
            <a:r>
              <a:rPr lang="en-US" sz="2400" dirty="0"/>
              <a:t>) provided by fluid lab without any internal or external leakage. </a:t>
            </a:r>
            <a:endParaRPr lang="en-US" sz="2400" dirty="0" smtClean="0"/>
          </a:p>
          <a:p>
            <a:pPr marL="285750" indent="-285750">
              <a:buFont typeface="Arial" panose="020B0604020202020204" pitchFamily="34" charset="0"/>
              <a:buChar char="•"/>
            </a:pPr>
            <a:r>
              <a:rPr lang="en-US" sz="2400" dirty="0"/>
              <a:t>Our heat exchanger </a:t>
            </a:r>
            <a:r>
              <a:rPr lang="en-US" sz="2400" dirty="0" smtClean="0"/>
              <a:t>withstands a </a:t>
            </a:r>
            <a:r>
              <a:rPr lang="en-US" sz="2400" dirty="0"/>
              <a:t>p</a:t>
            </a:r>
            <a:r>
              <a:rPr lang="en-US" sz="2400" dirty="0" smtClean="0"/>
              <a:t>ressure of  10 psi. After then water leakage happens. </a:t>
            </a:r>
            <a:endParaRPr lang="en-US" sz="2400" dirty="0"/>
          </a:p>
        </p:txBody>
      </p:sp>
    </p:spTree>
    <p:extLst>
      <p:ext uri="{BB962C8B-B14F-4D97-AF65-F5344CB8AC3E}">
        <p14:creationId xmlns:p14="http://schemas.microsoft.com/office/powerpoint/2010/main" val="3682215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Right 4">
            <a:extLst>
              <a:ext uri="{FF2B5EF4-FFF2-40B4-BE49-F238E27FC236}">
                <a16:creationId xmlns:a16="http://schemas.microsoft.com/office/drawing/2014/main" id="{F2AD8080-E470-4480-BFCB-0C0AE583760B}"/>
              </a:ext>
            </a:extLst>
          </p:cNvPr>
          <p:cNvSpPr/>
          <p:nvPr/>
        </p:nvSpPr>
        <p:spPr>
          <a:xfrm>
            <a:off x="2579690" y="685800"/>
            <a:ext cx="6004752" cy="14994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A28858-F902-48AB-AF9D-FEB6921F2357}"/>
              </a:ext>
            </a:extLst>
          </p:cNvPr>
          <p:cNvSpPr>
            <a:spLocks noGrp="1"/>
          </p:cNvSpPr>
          <p:nvPr>
            <p:ph type="title"/>
          </p:nvPr>
        </p:nvSpPr>
        <p:spPr>
          <a:xfrm>
            <a:off x="-1067820" y="593197"/>
            <a:ext cx="10018713" cy="1752599"/>
          </a:xfrm>
        </p:spPr>
        <p:txBody>
          <a:bodyPr/>
          <a:lstStyle/>
          <a:p>
            <a:r>
              <a:rPr lang="en-US" dirty="0"/>
              <a:t>Overall cost</a:t>
            </a:r>
          </a:p>
        </p:txBody>
      </p:sp>
      <p:graphicFrame>
        <p:nvGraphicFramePr>
          <p:cNvPr id="3" name="Table 3">
            <a:extLst>
              <a:ext uri="{FF2B5EF4-FFF2-40B4-BE49-F238E27FC236}">
                <a16:creationId xmlns:a16="http://schemas.microsoft.com/office/drawing/2014/main" id="{E7102C87-ECEA-49DC-95CE-4D10F795A41F}"/>
              </a:ext>
            </a:extLst>
          </p:cNvPr>
          <p:cNvGraphicFramePr>
            <a:graphicFrameLocks noGrp="1"/>
          </p:cNvGraphicFramePr>
          <p:nvPr>
            <p:extLst>
              <p:ext uri="{D42A27DB-BD31-4B8C-83A1-F6EECF244321}">
                <p14:modId xmlns:p14="http://schemas.microsoft.com/office/powerpoint/2010/main" val="376787862"/>
              </p:ext>
            </p:extLst>
          </p:nvPr>
        </p:nvGraphicFramePr>
        <p:xfrm>
          <a:off x="2579690" y="2185211"/>
          <a:ext cx="8127999" cy="4079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41631552"/>
                    </a:ext>
                  </a:extLst>
                </a:gridCol>
                <a:gridCol w="2709333">
                  <a:extLst>
                    <a:ext uri="{9D8B030D-6E8A-4147-A177-3AD203B41FA5}">
                      <a16:colId xmlns:a16="http://schemas.microsoft.com/office/drawing/2014/main" val="2362351492"/>
                    </a:ext>
                  </a:extLst>
                </a:gridCol>
                <a:gridCol w="2709333">
                  <a:extLst>
                    <a:ext uri="{9D8B030D-6E8A-4147-A177-3AD203B41FA5}">
                      <a16:colId xmlns:a16="http://schemas.microsoft.com/office/drawing/2014/main" val="1889247597"/>
                    </a:ext>
                  </a:extLst>
                </a:gridCol>
              </a:tblGrid>
              <a:tr h="370840">
                <a:tc>
                  <a:txBody>
                    <a:bodyPr/>
                    <a:lstStyle/>
                    <a:p>
                      <a:pPr marL="0" marR="0" algn="just">
                        <a:lnSpc>
                          <a:spcPct val="107000"/>
                        </a:lnSpc>
                        <a:spcBef>
                          <a:spcPts val="0"/>
                        </a:spcBef>
                        <a:spcAft>
                          <a:spcPts val="0"/>
                        </a:spcAft>
                      </a:pPr>
                      <a:r>
                        <a:rPr lang="en-US" sz="1400" b="1" dirty="0">
                          <a:effectLst/>
                          <a:latin typeface="Calibri" panose="020F0502020204030204" pitchFamily="34" charset="0"/>
                          <a:ea typeface="Calibri" panose="020F0502020204030204" pitchFamily="34" charset="0"/>
                          <a:cs typeface="Vrinda" panose="020B0502040204020203" pitchFamily="34" charset="0"/>
                        </a:rPr>
                        <a:t>          Description </a:t>
                      </a:r>
                      <a:endParaRPr lang="en-US" sz="11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latin typeface="Calibri" panose="020F0502020204030204" pitchFamily="34" charset="0"/>
                          <a:ea typeface="Calibri" panose="020F0502020204030204" pitchFamily="34" charset="0"/>
                          <a:cs typeface="Vrinda" panose="020B0502040204020203" pitchFamily="34" charset="0"/>
                        </a:rPr>
                        <a:t>                </a:t>
                      </a:r>
                      <a:r>
                        <a:rPr lang="en-US" sz="1400">
                          <a:effectLst/>
                          <a:latin typeface="Calibri" panose="020F0502020204030204" pitchFamily="34" charset="0"/>
                          <a:ea typeface="Calibri" panose="020F0502020204030204" pitchFamily="34" charset="0"/>
                          <a:cs typeface="Vrinda" panose="020B0502040204020203" pitchFamily="34" charset="0"/>
                        </a:rPr>
                        <a:t>Unit</a:t>
                      </a:r>
                      <a:r>
                        <a:rPr lang="en-US" sz="1400" b="1">
                          <a:effectLst/>
                          <a:latin typeface="Calibri" panose="020F0502020204030204" pitchFamily="34" charset="0"/>
                          <a:ea typeface="Calibri" panose="020F0502020204030204" pitchFamily="34" charset="0"/>
                          <a:cs typeface="Vrinda" panose="020B0502040204020203" pitchFamily="34" charset="0"/>
                        </a:rPr>
                        <a:t> cost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latin typeface="Calibri" panose="020F0502020204030204" pitchFamily="34" charset="0"/>
                          <a:ea typeface="Calibri" panose="020F0502020204030204" pitchFamily="34" charset="0"/>
                          <a:cs typeface="Vrinda" panose="020B0502040204020203" pitchFamily="34" charset="0"/>
                        </a:rPr>
                        <a:t>       Total cost (BDT)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782639802"/>
                  </a:ext>
                </a:extLst>
              </a:tr>
              <a:tr h="370840">
                <a:tc>
                  <a:txBody>
                    <a:bodyPr/>
                    <a:lstStyle/>
                    <a:p>
                      <a:pPr marL="0" marR="0" algn="just">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Mild steel sheet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110(per kg)</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r>
                        <a:rPr lang="en-US" sz="1400">
                          <a:effectLst/>
                          <a:latin typeface="Calibri" panose="020F0502020204030204" pitchFamily="34" charset="0"/>
                          <a:ea typeface="Calibri" panose="020F0502020204030204" pitchFamily="34" charset="0"/>
                          <a:cs typeface="Vrinda" panose="020B0502040204020203" pitchFamily="34" charset="0"/>
                        </a:rPr>
                        <a:t>360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047203358"/>
                  </a:ext>
                </a:extLst>
              </a:tr>
              <a:tr h="370840">
                <a:tc>
                  <a:txBody>
                    <a:bodyPr/>
                    <a:lstStyle/>
                    <a:p>
                      <a:pPr marL="0" marR="0" algn="just">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Al sheet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r>
                        <a:rPr lang="en-US" sz="1400">
                          <a:effectLst/>
                          <a:latin typeface="Calibri" panose="020F0502020204030204" pitchFamily="34" charset="0"/>
                          <a:ea typeface="Calibri" panose="020F0502020204030204" pitchFamily="34" charset="0"/>
                          <a:cs typeface="Vrinda" panose="020B0502040204020203" pitchFamily="34" charset="0"/>
                        </a:rPr>
                        <a:t>170 (per ft)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1000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2399570953"/>
                  </a:ext>
                </a:extLst>
              </a:tr>
              <a:tr h="370840">
                <a:tc>
                  <a:txBody>
                    <a:bodyPr/>
                    <a:lstStyle/>
                    <a:p>
                      <a:pPr marL="0" marR="0">
                        <a:lnSpc>
                          <a:spcPct val="107000"/>
                        </a:lnSpc>
                        <a:spcBef>
                          <a:spcPts val="0"/>
                        </a:spcBef>
                        <a:spcAft>
                          <a:spcPts val="0"/>
                        </a:spcAft>
                      </a:pPr>
                      <a:r>
                        <a:rPr lang="en-US" sz="1200">
                          <a:effectLst/>
                          <a:latin typeface="Calibri" panose="020F0502020204030204" pitchFamily="34" charset="0"/>
                          <a:ea typeface="Calibri" panose="020F0502020204030204" pitchFamily="34" charset="0"/>
                          <a:cs typeface="Vrinda" panose="020B0502040204020203" pitchFamily="34" charset="0"/>
                        </a:rPr>
                        <a:t>      </a:t>
                      </a:r>
                      <a:r>
                        <a:rPr lang="en-US" sz="1400">
                          <a:effectLst/>
                          <a:latin typeface="Calibri" panose="020F0502020204030204" pitchFamily="34" charset="0"/>
                          <a:ea typeface="Calibri" panose="020F0502020204030204" pitchFamily="34" charset="0"/>
                          <a:cs typeface="Vrinda" panose="020B0502040204020203" pitchFamily="34" charset="0"/>
                        </a:rPr>
                        <a:t> Metal sheet cutting</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250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623087126"/>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Rubber sheet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25(per ft)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150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835123066"/>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Joint pipe</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100 (per pcs)</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400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464668724"/>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Drilling and Grinding</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700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573445727"/>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Fasteners</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40 (per pcs)</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240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483990007"/>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Glue gun</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250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352306777"/>
                  </a:ext>
                </a:extLst>
              </a:tr>
              <a:tr h="370840">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Transport</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a:effectLst/>
                          <a:latin typeface="Calibri" panose="020F0502020204030204" pitchFamily="34" charset="0"/>
                          <a:ea typeface="Calibri" panose="020F0502020204030204" pitchFamily="34" charset="0"/>
                          <a:cs typeface="Vrinda" panose="020B0502040204020203" pitchFamily="34" charset="0"/>
                        </a:rPr>
                        <a:t>                 660</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1872970486"/>
                  </a:ext>
                </a:extLst>
              </a:tr>
              <a:tr h="370840">
                <a:tc>
                  <a:txBody>
                    <a:bodyPr/>
                    <a:lstStyle/>
                    <a:p>
                      <a:pPr marL="0" marR="0">
                        <a:lnSpc>
                          <a:spcPct val="107000"/>
                        </a:lnSpc>
                        <a:spcBef>
                          <a:spcPts val="0"/>
                        </a:spcBef>
                        <a:spcAft>
                          <a:spcPts val="0"/>
                        </a:spcAft>
                      </a:pPr>
                      <a:r>
                        <a:rPr lang="en-US" sz="1400" b="1" dirty="0">
                          <a:effectLst/>
                          <a:latin typeface="Calibri" panose="020F0502020204030204" pitchFamily="34" charset="0"/>
                          <a:ea typeface="Calibri" panose="020F0502020204030204" pitchFamily="34" charset="0"/>
                          <a:cs typeface="Vrinda" panose="020B0502040204020203" pitchFamily="34" charset="0"/>
                        </a:rPr>
                        <a:t>                  Total</a:t>
                      </a:r>
                      <a:endParaRPr lang="en-US" sz="1100" b="1"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600" b="1">
                          <a:effectLst/>
                          <a:latin typeface="Calibri" panose="020F0502020204030204" pitchFamily="34" charset="0"/>
                          <a:ea typeface="Calibri" panose="020F0502020204030204" pitchFamily="34" charset="0"/>
                          <a:cs typeface="Vrinda" panose="020B0502040204020203" pitchFamily="34" charset="0"/>
                        </a:rPr>
                        <a:t>                    - </a:t>
                      </a:r>
                      <a:endParaRPr lang="en-US" sz="110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400" b="1" dirty="0">
                          <a:effectLst/>
                          <a:latin typeface="Calibri" panose="020F0502020204030204" pitchFamily="34" charset="0"/>
                          <a:ea typeface="Calibri" panose="020F0502020204030204" pitchFamily="34" charset="0"/>
                          <a:cs typeface="Vrinda" panose="020B0502040204020203" pitchFamily="34" charset="0"/>
                        </a:rPr>
                        <a:t>                4010</a:t>
                      </a:r>
                      <a:endParaRPr lang="en-US" sz="1100" b="1"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0" marB="0"/>
                </a:tc>
                <a:extLst>
                  <a:ext uri="{0D108BD9-81ED-4DB2-BD59-A6C34878D82A}">
                    <a16:rowId xmlns:a16="http://schemas.microsoft.com/office/drawing/2014/main" val="594134493"/>
                  </a:ext>
                </a:extLst>
              </a:tr>
            </a:tbl>
          </a:graphicData>
        </a:graphic>
      </p:graphicFrame>
    </p:spTree>
    <p:extLst>
      <p:ext uri="{BB962C8B-B14F-4D97-AF65-F5344CB8AC3E}">
        <p14:creationId xmlns:p14="http://schemas.microsoft.com/office/powerpoint/2010/main" val="4157408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19F7-3CBC-4270-8D24-74BF3A146C20}"/>
              </a:ext>
            </a:extLst>
          </p:cNvPr>
          <p:cNvSpPr>
            <a:spLocks noGrp="1"/>
          </p:cNvSpPr>
          <p:nvPr>
            <p:ph type="title"/>
          </p:nvPr>
        </p:nvSpPr>
        <p:spPr>
          <a:xfrm>
            <a:off x="2173287" y="187700"/>
            <a:ext cx="10018713" cy="1006522"/>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dirty="0"/>
              <a:t>limitations</a:t>
            </a:r>
          </a:p>
        </p:txBody>
      </p:sp>
      <p:sp>
        <p:nvSpPr>
          <p:cNvPr id="3" name="TextBox 2">
            <a:extLst>
              <a:ext uri="{FF2B5EF4-FFF2-40B4-BE49-F238E27FC236}">
                <a16:creationId xmlns:a16="http://schemas.microsoft.com/office/drawing/2014/main" id="{0A93EB46-7813-4C98-8363-263DBAD4FF1D}"/>
              </a:ext>
            </a:extLst>
          </p:cNvPr>
          <p:cNvSpPr txBox="1"/>
          <p:nvPr/>
        </p:nvSpPr>
        <p:spPr>
          <a:xfrm>
            <a:off x="2173287" y="1633181"/>
            <a:ext cx="8663035" cy="304698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285750" indent="-285750">
              <a:buFont typeface="Arial" panose="020B0604020202020204" pitchFamily="34" charset="0"/>
              <a:buChar char="•"/>
            </a:pPr>
            <a:r>
              <a:rPr lang="en-US" sz="2400" dirty="0"/>
              <a:t>We didn’t find plate with both side corrugation. Hence effective heat transfer was reduced</a:t>
            </a:r>
          </a:p>
          <a:p>
            <a:pPr marL="285750" indent="-285750">
              <a:buFont typeface="Arial" panose="020B0604020202020204" pitchFamily="34" charset="0"/>
              <a:buChar char="•"/>
            </a:pPr>
            <a:r>
              <a:rPr lang="en-US" sz="2400" dirty="0"/>
              <a:t>Normally gasketed plate has profile for gasket to set in. Due to lack of resources we didn’t make profile on the plate for gasket. This is the main reason for leakage</a:t>
            </a:r>
          </a:p>
          <a:p>
            <a:pPr marL="285750" indent="-285750">
              <a:buFont typeface="Arial" panose="020B0604020202020204" pitchFamily="34" charset="0"/>
              <a:buChar char="•"/>
            </a:pPr>
            <a:r>
              <a:rPr lang="en-US" sz="2400" dirty="0"/>
              <a:t>Our HX is very small compare to those used in the industry. </a:t>
            </a:r>
          </a:p>
          <a:p>
            <a:pPr marL="285750" indent="-285750">
              <a:buFont typeface="Arial" panose="020B0604020202020204" pitchFamily="34" charset="0"/>
              <a:buChar char="•"/>
            </a:pPr>
            <a:r>
              <a:rPr lang="en-US" sz="2400" dirty="0"/>
              <a:t>We used glue to reduce leakage. Which is very impractical for industry </a:t>
            </a:r>
          </a:p>
        </p:txBody>
      </p:sp>
    </p:spTree>
    <p:extLst>
      <p:ext uri="{BB962C8B-B14F-4D97-AF65-F5344CB8AC3E}">
        <p14:creationId xmlns:p14="http://schemas.microsoft.com/office/powerpoint/2010/main" val="3758760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FDDB-B59A-4668-943F-6B6EBBCD3E44}"/>
              </a:ext>
            </a:extLst>
          </p:cNvPr>
          <p:cNvSpPr>
            <a:spLocks noGrp="1"/>
          </p:cNvSpPr>
          <p:nvPr>
            <p:ph type="title"/>
          </p:nvPr>
        </p:nvSpPr>
        <p:spPr>
          <a:xfrm>
            <a:off x="1484311" y="685800"/>
            <a:ext cx="10018713" cy="1088409"/>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US" dirty="0"/>
              <a:t>Further Improvement </a:t>
            </a:r>
          </a:p>
        </p:txBody>
      </p:sp>
      <p:sp>
        <p:nvSpPr>
          <p:cNvPr id="3" name="TextBox 2">
            <a:extLst>
              <a:ext uri="{FF2B5EF4-FFF2-40B4-BE49-F238E27FC236}">
                <a16:creationId xmlns:a16="http://schemas.microsoft.com/office/drawing/2014/main" id="{5B5BEC28-80E1-4FFF-A818-90A541320083}"/>
              </a:ext>
            </a:extLst>
          </p:cNvPr>
          <p:cNvSpPr txBox="1"/>
          <p:nvPr/>
        </p:nvSpPr>
        <p:spPr>
          <a:xfrm>
            <a:off x="1481621" y="2001918"/>
            <a:ext cx="10258817" cy="415498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285750" indent="-285750">
              <a:buFont typeface="Wingdings" panose="05000000000000000000" pitchFamily="2" charset="2"/>
              <a:buChar char="§"/>
            </a:pPr>
            <a:r>
              <a:rPr lang="en-US" sz="2400" dirty="0"/>
              <a:t>CNC machine can be used to make desired corrugation on both surface of plate. Also profile can be made on the plate for gasket</a:t>
            </a:r>
          </a:p>
          <a:p>
            <a:pPr marL="285750" indent="-285750">
              <a:buFont typeface="Wingdings" panose="05000000000000000000" pitchFamily="2" charset="2"/>
              <a:buChar char="§"/>
            </a:pPr>
            <a:r>
              <a:rPr lang="en-US" sz="2400" dirty="0"/>
              <a:t>Stainless steel can be used for plate material for better conductivity</a:t>
            </a:r>
          </a:p>
          <a:p>
            <a:pPr marL="285750" indent="-285750">
              <a:buFont typeface="Wingdings" panose="05000000000000000000" pitchFamily="2" charset="2"/>
              <a:buChar char="§"/>
            </a:pPr>
            <a:r>
              <a:rPr lang="en-US" sz="2400" dirty="0"/>
              <a:t>Bigger fasteners and thicker cover plate can be used to make the assembly more compact and leakage can be further reduced</a:t>
            </a:r>
          </a:p>
          <a:p>
            <a:pPr marL="285750" indent="-285750">
              <a:buFont typeface="Wingdings" panose="05000000000000000000" pitchFamily="2" charset="2"/>
              <a:buChar char="§"/>
            </a:pPr>
            <a:r>
              <a:rPr lang="en-GB" sz="2400" dirty="0"/>
              <a:t>selecting the most appropriate plate corrugation pattern for your specific application. Different patterns can offer varying levels of turbulence and heat transfer efficiency</a:t>
            </a:r>
          </a:p>
          <a:p>
            <a:pPr marL="285750" indent="-285750">
              <a:buFont typeface="Wingdings" panose="05000000000000000000" pitchFamily="2" charset="2"/>
              <a:buChar char="§"/>
            </a:pPr>
            <a:r>
              <a:rPr lang="en-GB" sz="2400" dirty="0"/>
              <a:t>Insulating the HX by insulated cover case can minimize heat losses to the surroundings</a:t>
            </a:r>
            <a:endParaRPr lang="en-US" sz="2400" dirty="0"/>
          </a:p>
          <a:p>
            <a:pPr marL="285750" indent="-285750">
              <a:buFont typeface="Wingdings" panose="05000000000000000000" pitchFamily="2" charset="2"/>
              <a:buChar char="§"/>
            </a:pPr>
            <a:endParaRPr lang="en-US" sz="2400" dirty="0"/>
          </a:p>
        </p:txBody>
      </p:sp>
    </p:spTree>
    <p:extLst>
      <p:ext uri="{BB962C8B-B14F-4D97-AF65-F5344CB8AC3E}">
        <p14:creationId xmlns:p14="http://schemas.microsoft.com/office/powerpoint/2010/main" val="2105704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32A57-3142-447C-896D-BDEAAE28C42C}"/>
              </a:ext>
            </a:extLst>
          </p:cNvPr>
          <p:cNvSpPr>
            <a:spLocks noGrp="1"/>
          </p:cNvSpPr>
          <p:nvPr>
            <p:ph type="title"/>
          </p:nvPr>
        </p:nvSpPr>
        <p:spPr>
          <a:xfrm>
            <a:off x="1729971" y="1190767"/>
            <a:ext cx="10018713" cy="4664123"/>
          </a:xfr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ormAutofit fontScale="90000"/>
          </a:bodyPr>
          <a:lstStyle/>
          <a:p>
            <a:r>
              <a:rPr lang="en-US" u="sng" dirty="0"/>
              <a:t>Acknowledgement</a:t>
            </a:r>
            <a:r>
              <a:rPr lang="en-US" dirty="0"/>
              <a:t/>
            </a:r>
            <a:br>
              <a:rPr lang="en-US" dirty="0"/>
            </a:br>
            <a:r>
              <a:rPr lang="en-US" dirty="0"/>
              <a:t/>
            </a:r>
            <a:br>
              <a:rPr lang="en-US" dirty="0"/>
            </a:br>
            <a:r>
              <a:rPr lang="en-GB" sz="3100" dirty="0" err="1"/>
              <a:t>Priom</a:t>
            </a:r>
            <a:r>
              <a:rPr lang="en-GB" sz="3100" dirty="0"/>
              <a:t> Das </a:t>
            </a:r>
            <a:r>
              <a:rPr lang="en-GB" dirty="0"/>
              <a:t/>
            </a:r>
            <a:br>
              <a:rPr lang="en-GB" dirty="0"/>
            </a:br>
            <a:r>
              <a:rPr lang="en-GB" sz="2000" dirty="0"/>
              <a:t>(Lecturer, Department of Mechanical </a:t>
            </a:r>
            <a:r>
              <a:rPr lang="en-GB" sz="2000" dirty="0" err="1"/>
              <a:t>Engineering,BUET</a:t>
            </a:r>
            <a:r>
              <a:rPr lang="en-GB" sz="2000" dirty="0"/>
              <a:t>)</a:t>
            </a:r>
            <a:br>
              <a:rPr lang="en-GB" sz="2000" dirty="0"/>
            </a:br>
            <a:r>
              <a:rPr lang="en-GB" sz="2000" dirty="0"/>
              <a:t/>
            </a:r>
            <a:br>
              <a:rPr lang="en-GB" sz="2000" dirty="0"/>
            </a:br>
            <a:r>
              <a:rPr lang="en-GB" dirty="0"/>
              <a:t> </a:t>
            </a:r>
            <a:r>
              <a:rPr lang="en-GB" sz="3100" dirty="0"/>
              <a:t>Md. </a:t>
            </a:r>
            <a:r>
              <a:rPr lang="en-GB" sz="3100" dirty="0" err="1"/>
              <a:t>Aminul</a:t>
            </a:r>
            <a:r>
              <a:rPr lang="en-GB" sz="3100" dirty="0"/>
              <a:t> Islam</a:t>
            </a:r>
            <a:br>
              <a:rPr lang="en-GB" sz="3100" dirty="0"/>
            </a:br>
            <a:r>
              <a:rPr lang="en-GB" sz="2000" dirty="0"/>
              <a:t>(Lecturer, Department of Mechanical </a:t>
            </a:r>
            <a:r>
              <a:rPr lang="en-GB" sz="2000" dirty="0" err="1"/>
              <a:t>Engineering,BUET</a:t>
            </a:r>
            <a:r>
              <a:rPr lang="en-GB" sz="2000" dirty="0"/>
              <a:t>)</a:t>
            </a:r>
            <a:br>
              <a:rPr lang="en-GB" sz="2000" dirty="0"/>
            </a:br>
            <a:r>
              <a:rPr lang="en-GB" sz="2000" dirty="0"/>
              <a:t> </a:t>
            </a:r>
            <a:br>
              <a:rPr lang="en-GB" sz="2000" dirty="0"/>
            </a:br>
            <a:r>
              <a:rPr lang="en-GB" sz="3100" dirty="0"/>
              <a:t>Tanvir </a:t>
            </a:r>
            <a:r>
              <a:rPr lang="en-GB" sz="3100" dirty="0" err="1"/>
              <a:t>Anam</a:t>
            </a:r>
            <a:r>
              <a:rPr lang="en-GB" sz="3100" dirty="0"/>
              <a:t> </a:t>
            </a:r>
            <a:r>
              <a:rPr lang="en-GB" sz="3100" dirty="0" err="1"/>
              <a:t>Tipu</a:t>
            </a:r>
            <a:r>
              <a:rPr lang="en-GB" sz="3100" dirty="0"/>
              <a:t> </a:t>
            </a:r>
            <a:r>
              <a:rPr lang="en-GB" dirty="0"/>
              <a:t/>
            </a:r>
            <a:br>
              <a:rPr lang="en-GB" dirty="0"/>
            </a:br>
            <a:r>
              <a:rPr lang="en-GB" sz="2200" dirty="0"/>
              <a:t>(Teaching Assistant, Department of Mechanical Engineering, BUET)</a:t>
            </a:r>
            <a:r>
              <a:rPr lang="en-US" sz="2200" dirty="0"/>
              <a:t/>
            </a:r>
            <a:br>
              <a:rPr lang="en-US" sz="2200" dirty="0"/>
            </a:br>
            <a:endParaRPr lang="en-US" sz="2200" dirty="0"/>
          </a:p>
        </p:txBody>
      </p:sp>
    </p:spTree>
    <p:extLst>
      <p:ext uri="{BB962C8B-B14F-4D97-AF65-F5344CB8AC3E}">
        <p14:creationId xmlns:p14="http://schemas.microsoft.com/office/powerpoint/2010/main" val="3844670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ouble Wave 2">
            <a:extLst>
              <a:ext uri="{FF2B5EF4-FFF2-40B4-BE49-F238E27FC236}">
                <a16:creationId xmlns:a16="http://schemas.microsoft.com/office/drawing/2014/main" id="{24E0385C-A183-4D4B-B511-CFBC151CF526}"/>
              </a:ext>
            </a:extLst>
          </p:cNvPr>
          <p:cNvSpPr/>
          <p:nvPr/>
        </p:nvSpPr>
        <p:spPr>
          <a:xfrm>
            <a:off x="3098041" y="2552700"/>
            <a:ext cx="7629099" cy="2101755"/>
          </a:xfrm>
          <a:prstGeom prst="double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A1CA1-0CD5-4A24-A37C-67E4C2D7D1F0}"/>
              </a:ext>
            </a:extLst>
          </p:cNvPr>
          <p:cNvSpPr>
            <a:spLocks noGrp="1"/>
          </p:cNvSpPr>
          <p:nvPr>
            <p:ph type="title"/>
          </p:nvPr>
        </p:nvSpPr>
        <p:spPr>
          <a:xfrm>
            <a:off x="1614806" y="2727277"/>
            <a:ext cx="10018713" cy="1752599"/>
          </a:xfrm>
        </p:spPr>
        <p:txBody>
          <a:bodyPr>
            <a:normAutofit/>
          </a:bodyPr>
          <a:lstStyle/>
          <a:p>
            <a:r>
              <a:rPr lang="en-US" sz="6600" b="1" dirty="0">
                <a:solidFill>
                  <a:schemeClr val="bg1"/>
                </a:solidFill>
              </a:rPr>
              <a:t>Thank you</a:t>
            </a:r>
          </a:p>
        </p:txBody>
      </p:sp>
    </p:spTree>
    <p:extLst>
      <p:ext uri="{BB962C8B-B14F-4D97-AF65-F5344CB8AC3E}">
        <p14:creationId xmlns:p14="http://schemas.microsoft.com/office/powerpoint/2010/main" val="9735706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340</TotalTime>
  <Words>884</Words>
  <Application>Microsoft Office PowerPoint</Application>
  <PresentationFormat>Widescreen</PresentationFormat>
  <Paragraphs>138</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Corbel</vt:lpstr>
      <vt:lpstr>Times New Roman</vt:lpstr>
      <vt:lpstr>Vrinda</vt:lpstr>
      <vt:lpstr>Wingdings</vt:lpstr>
      <vt:lpstr>Parallax</vt:lpstr>
      <vt:lpstr>PowerPoint Presentation</vt:lpstr>
      <vt:lpstr>ME 310 THERMO-FLUID SYSTEM DESIGN</vt:lpstr>
      <vt:lpstr>contents</vt:lpstr>
      <vt:lpstr>Abstract</vt:lpstr>
      <vt:lpstr>PowerPoint Presentation</vt:lpstr>
      <vt:lpstr>Our objectives….</vt:lpstr>
      <vt:lpstr>Problem statement:</vt:lpstr>
      <vt:lpstr>Design strategy</vt:lpstr>
      <vt:lpstr>Design strategy </vt:lpstr>
      <vt:lpstr>PowerPoint Presentation</vt:lpstr>
      <vt:lpstr>Thermal and hydraulic calculation by MATLAB</vt:lpstr>
      <vt:lpstr>Final results</vt:lpstr>
      <vt:lpstr>Parametric studies</vt:lpstr>
      <vt:lpstr>PowerPoint Presentation</vt:lpstr>
      <vt:lpstr>PowerPoint Presentation</vt:lpstr>
      <vt:lpstr>Manufacturing process </vt:lpstr>
      <vt:lpstr>Manufacturing process</vt:lpstr>
      <vt:lpstr>Manufacturing process</vt:lpstr>
      <vt:lpstr>Manufacturing process</vt:lpstr>
      <vt:lpstr>Performance testing</vt:lpstr>
      <vt:lpstr>Overall cost</vt:lpstr>
      <vt:lpstr>limitations</vt:lpstr>
      <vt:lpstr>Further Improvement </vt:lpstr>
      <vt:lpstr>Acknowledgement  Priom Das  (Lecturer, Department of Mechanical Engineering,BUET)   Md. Aminul Islam (Lecturer, Department of Mechanical Engineering,BUET)   Tanvir Anam Tipu  (Teaching Assistant, Department of Mechanical Engineering, BUET)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Gasketed Plate Heat Exchanger</dc:title>
  <dc:creator>Barkatullah Fahad</dc:creator>
  <cp:lastModifiedBy>Md. Shahriar Parvez Bijoy</cp:lastModifiedBy>
  <cp:revision>36</cp:revision>
  <dcterms:created xsi:type="dcterms:W3CDTF">2023-09-10T16:03:07Z</dcterms:created>
  <dcterms:modified xsi:type="dcterms:W3CDTF">2023-09-23T06:21:47Z</dcterms:modified>
</cp:coreProperties>
</file>